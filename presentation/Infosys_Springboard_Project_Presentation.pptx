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embeddedFontLst>
    <p:embeddedFont>
      <p:font typeface="Inter"/>
      <p:regular r:id="rId18"/>
      <p:bold r:id="rId19"/>
      <p:italic r:id="rId20"/>
      <p:boldItalic r:id="rId21"/>
    </p:embeddedFont>
    <p:embeddedFont>
      <p:font typeface="Plus Jakarta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italic.fntdata"/><Relationship Id="rId22" Type="http://schemas.openxmlformats.org/officeDocument/2006/relationships/font" Target="fonts/PlusJakartaSans-regular.fntdata"/><Relationship Id="rId21" Type="http://schemas.openxmlformats.org/officeDocument/2006/relationships/font" Target="fonts/Inter-boldItalic.fntdata"/><Relationship Id="rId24" Type="http://schemas.openxmlformats.org/officeDocument/2006/relationships/font" Target="fonts/PlusJakartaSans-italic.fntdata"/><Relationship Id="rId23" Type="http://schemas.openxmlformats.org/officeDocument/2006/relationships/font" Target="fonts/PlusJakartaSa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PlusJakarta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Inter-bold.fntdata"/><Relationship Id="rId18" Type="http://schemas.openxmlformats.org/officeDocument/2006/relationships/font" Target="fonts/Inter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2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image" Target="../media/image7.png"/><Relationship Id="rId6" Type="http://schemas.openxmlformats.org/officeDocument/2006/relationships/image" Target="../media/image25.png"/><Relationship Id="rId7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5.png"/><Relationship Id="rId5" Type="http://schemas.openxmlformats.org/officeDocument/2006/relationships/image" Target="../media/image20.png"/><Relationship Id="rId6" Type="http://schemas.openxmlformats.org/officeDocument/2006/relationships/image" Target="../media/image17.png"/><Relationship Id="rId7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.png"/><Relationship Id="rId4" Type="http://schemas.openxmlformats.org/officeDocument/2006/relationships/image" Target="../media/image6.png"/><Relationship Id="rId5" Type="http://schemas.openxmlformats.org/officeDocument/2006/relationships/image" Target="../media/image4.png"/><Relationship Id="rId6" Type="http://schemas.openxmlformats.org/officeDocument/2006/relationships/image" Target="../media/image26.png"/><Relationship Id="rId7" Type="http://schemas.openxmlformats.org/officeDocument/2006/relationships/image" Target="../media/image24.png"/><Relationship Id="rId8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5" Type="http://schemas.openxmlformats.org/officeDocument/2006/relationships/image" Target="../media/image2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2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2A2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609600" y="6105525"/>
            <a:ext cx="109728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8073425" y="326250"/>
            <a:ext cx="3962400" cy="414300"/>
          </a:xfrm>
          <a:prstGeom prst="roundRect">
            <a:avLst>
              <a:gd fmla="val 32258" name="adj"/>
            </a:avLst>
          </a:prstGeom>
          <a:solidFill>
            <a:srgbClr val="1B382B"/>
          </a:solidFill>
          <a:ln cap="flat" cmpd="sng" w="9525">
            <a:solidFill>
              <a:srgbClr val="284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609600" y="6105525"/>
            <a:ext cx="10972800" cy="9525"/>
          </a:xfrm>
          <a:prstGeom prst="rect">
            <a:avLst/>
          </a:prstGeom>
          <a:solidFill>
            <a:srgbClr val="284C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6707385" y="3330237"/>
            <a:ext cx="4875000" cy="1157400"/>
          </a:xfrm>
          <a:prstGeom prst="roundRect">
            <a:avLst>
              <a:gd fmla="val 15648" name="adj"/>
            </a:avLst>
          </a:prstGeom>
          <a:solidFill>
            <a:srgbClr val="1B382B"/>
          </a:solidFill>
          <a:ln cap="flat" cmpd="sng" w="9525">
            <a:solidFill>
              <a:srgbClr val="284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/>
          <p:nvPr/>
        </p:nvSpPr>
        <p:spPr>
          <a:xfrm>
            <a:off x="6707373" y="4601587"/>
            <a:ext cx="4875000" cy="1157400"/>
          </a:xfrm>
          <a:prstGeom prst="roundRect">
            <a:avLst>
              <a:gd fmla="val 9876" name="adj"/>
            </a:avLst>
          </a:prstGeom>
          <a:solidFill>
            <a:srgbClr val="1B382B"/>
          </a:solidFill>
          <a:ln cap="flat" cmpd="sng" w="9525">
            <a:solidFill>
              <a:srgbClr val="284C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89" name="Google Shape;8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3202037"/>
            <a:ext cx="5869185" cy="2667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0" name="Google Shape;90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45493" y="3488276"/>
            <a:ext cx="242400" cy="24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1" name="Google Shape;91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45494" y="4797943"/>
            <a:ext cx="242400" cy="2424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/>
        </p:nvSpPr>
        <p:spPr>
          <a:xfrm>
            <a:off x="8073427" y="479125"/>
            <a:ext cx="3962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D98E72"/>
                </a:solidFill>
                <a:latin typeface="Inter"/>
                <a:ea typeface="Inter"/>
                <a:cs typeface="Inter"/>
                <a:sym typeface="Inter"/>
              </a:rPr>
              <a:t>INFOSYS SPRINGBOARD V</a:t>
            </a:r>
            <a:r>
              <a:rPr b="1" lang="en-US" sz="900">
                <a:solidFill>
                  <a:srgbClr val="D98E72"/>
                </a:solidFill>
                <a:latin typeface="Inter"/>
                <a:ea typeface="Inter"/>
                <a:cs typeface="Inter"/>
                <a:sym typeface="Inter"/>
              </a:rPr>
              <a:t>IRTUAL</a:t>
            </a:r>
            <a:r>
              <a:rPr b="1" i="0" lang="en-US" sz="900" u="none" cap="none" strike="noStrike">
                <a:solidFill>
                  <a:srgbClr val="D98E72"/>
                </a:solidFill>
                <a:latin typeface="Inter"/>
                <a:ea typeface="Inter"/>
                <a:cs typeface="Inter"/>
                <a:sym typeface="Inter"/>
              </a:rPr>
              <a:t> INTERNSHIP 7.0 · BATCH 3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09600" y="6248400"/>
            <a:ext cx="58341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D98E72"/>
                </a:solidFill>
                <a:latin typeface="Inter"/>
                <a:ea typeface="Inter"/>
                <a:cs typeface="Inter"/>
                <a:sym typeface="Inter"/>
              </a:rPr>
              <a:t>SMART AGRICULTURE · AI  · PRECISION WATER MANAGEMENT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8167087" y="6242150"/>
            <a:ext cx="34140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75">
                <a:solidFill>
                  <a:srgbClr val="A3B8AD"/>
                </a:solidFill>
                <a:latin typeface="Inter"/>
                <a:ea typeface="Inter"/>
                <a:cs typeface="Inter"/>
                <a:sym typeface="Inter"/>
              </a:rPr>
              <a:t>Mentor - </a:t>
            </a:r>
            <a:r>
              <a:rPr lang="en-US" sz="1175">
                <a:solidFill>
                  <a:srgbClr val="A3B8AD"/>
                </a:solidFill>
                <a:latin typeface="Inter"/>
                <a:ea typeface="Inter"/>
                <a:cs typeface="Inter"/>
                <a:sym typeface="Inter"/>
              </a:rPr>
              <a:t>Ms. Manasa Panasala</a:t>
            </a:r>
            <a:endParaRPr sz="1175">
              <a:solidFill>
                <a:srgbClr val="A3B8AD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75">
                <a:solidFill>
                  <a:srgbClr val="A3B8AD"/>
                </a:solidFill>
                <a:latin typeface="Inter"/>
                <a:ea typeface="Inter"/>
                <a:cs typeface="Inter"/>
                <a:sym typeface="Inter"/>
              </a:rPr>
              <a:t>Coordinator - Mr. Venkoba</a:t>
            </a:r>
            <a:endParaRPr sz="1600"/>
          </a:p>
        </p:txBody>
      </p:sp>
      <p:sp>
        <p:nvSpPr>
          <p:cNvPr id="95" name="Google Shape;95;p13"/>
          <p:cNvSpPr txBox="1"/>
          <p:nvPr/>
        </p:nvSpPr>
        <p:spPr>
          <a:xfrm>
            <a:off x="609600" y="457200"/>
            <a:ext cx="952034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D98E72"/>
                </a:solidFill>
                <a:latin typeface="Inter"/>
                <a:ea typeface="Inter"/>
                <a:cs typeface="Inter"/>
                <a:sym typeface="Inter"/>
              </a:rPr>
              <a:t>PRECISION AGRICULTURE &amp; AI WATER MANAGEMENT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619125" y="1003450"/>
            <a:ext cx="9012000" cy="9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 Powered Smart Irrigation System for Predictive Water Management and Crop Optimization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609600" y="2209575"/>
            <a:ext cx="8358000" cy="5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A3B8AD"/>
                </a:solidFill>
                <a:latin typeface="Inter"/>
                <a:ea typeface="Inter"/>
                <a:cs typeface="Inter"/>
                <a:sym typeface="Inter"/>
              </a:rPr>
              <a:t>AI-driven system that predicts irrigation requirements and provides field-specific irrigation recommendations and schedules using machine learning, sensor data and weather intelligence.</a:t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7037010" y="3488274"/>
            <a:ext cx="52464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381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D98E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Automated Agriculture</a:t>
            </a:r>
            <a:endParaRPr sz="1700"/>
          </a:p>
        </p:txBody>
      </p:sp>
      <p:sp>
        <p:nvSpPr>
          <p:cNvPr id="99" name="Google Shape;99;p13"/>
          <p:cNvSpPr txBox="1"/>
          <p:nvPr/>
        </p:nvSpPr>
        <p:spPr>
          <a:xfrm>
            <a:off x="6945510" y="3806874"/>
            <a:ext cx="4494000" cy="4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25">
                <a:solidFill>
                  <a:srgbClr val="A3B8AD"/>
                </a:solidFill>
                <a:latin typeface="Inter"/>
                <a:ea typeface="Inter"/>
                <a:cs typeface="Inter"/>
                <a:sym typeface="Inter"/>
              </a:rPr>
              <a:t>Intervention free and optimized agriculture for better yields</a:t>
            </a:r>
            <a:endParaRPr sz="1600"/>
          </a:p>
        </p:txBody>
      </p:sp>
      <p:sp>
        <p:nvSpPr>
          <p:cNvPr id="100" name="Google Shape;100;p13"/>
          <p:cNvSpPr txBox="1"/>
          <p:nvPr/>
        </p:nvSpPr>
        <p:spPr>
          <a:xfrm>
            <a:off x="7037010" y="4796912"/>
            <a:ext cx="52464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381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5" u="none" cap="none" strike="noStrike">
                <a:solidFill>
                  <a:srgbClr val="D98E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Predictive Machine Learning</a:t>
            </a:r>
            <a:endParaRPr sz="1700"/>
          </a:p>
        </p:txBody>
      </p:sp>
      <p:sp>
        <p:nvSpPr>
          <p:cNvPr id="101" name="Google Shape;101;p13"/>
          <p:cNvSpPr txBox="1"/>
          <p:nvPr/>
        </p:nvSpPr>
        <p:spPr>
          <a:xfrm>
            <a:off x="6945510" y="5116562"/>
            <a:ext cx="4494000" cy="4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3B8AD"/>
                </a:solidFill>
                <a:latin typeface="Inter"/>
                <a:ea typeface="Inter"/>
                <a:cs typeface="Inter"/>
                <a:sym typeface="Inter"/>
              </a:rPr>
              <a:t>Predicts water deficits and automates precision runtime execution.</a:t>
            </a:r>
            <a:endParaRPr sz="1300"/>
          </a:p>
        </p:txBody>
      </p:sp>
      <p:pic>
        <p:nvPicPr>
          <p:cNvPr id="102" name="Google Shape;102;p13" title="Screenshot (199)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9600" y="3192000"/>
            <a:ext cx="5869200" cy="2653200"/>
          </a:xfrm>
          <a:prstGeom prst="roundRect">
            <a:avLst>
              <a:gd fmla="val 5983" name="adj"/>
            </a:avLst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1EA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4"/>
          <p:cNvSpPr/>
          <p:nvPr/>
        </p:nvSpPr>
        <p:spPr>
          <a:xfrm>
            <a:off x="533400" y="6019800"/>
            <a:ext cx="11125200" cy="419100"/>
          </a:xfrm>
          <a:prstGeom prst="roundRect">
            <a:avLst>
              <a:gd fmla="val 18181" name="adj"/>
            </a:avLst>
          </a:prstGeom>
          <a:solidFill>
            <a:srgbClr val="132A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/>
          <p:nvPr/>
        </p:nvSpPr>
        <p:spPr>
          <a:xfrm>
            <a:off x="533400" y="2147738"/>
            <a:ext cx="3581400" cy="1672976"/>
          </a:xfrm>
          <a:prstGeom prst="roundRect">
            <a:avLst>
              <a:gd fmla="val 6832" name="adj"/>
            </a:avLst>
          </a:prstGeom>
          <a:solidFill>
            <a:srgbClr val="FFFFFF"/>
          </a:solidFill>
          <a:ln cap="flat" cmpd="sng" w="9525">
            <a:solidFill>
              <a:srgbClr val="E2DD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4"/>
          <p:cNvSpPr/>
          <p:nvPr/>
        </p:nvSpPr>
        <p:spPr>
          <a:xfrm>
            <a:off x="4305300" y="2147738"/>
            <a:ext cx="3581400" cy="1672976"/>
          </a:xfrm>
          <a:prstGeom prst="roundRect">
            <a:avLst>
              <a:gd fmla="val 6832" name="adj"/>
            </a:avLst>
          </a:prstGeom>
          <a:solidFill>
            <a:srgbClr val="FFFFFF"/>
          </a:solidFill>
          <a:ln cap="flat" cmpd="sng" w="9525">
            <a:solidFill>
              <a:srgbClr val="E2DD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4"/>
          <p:cNvSpPr/>
          <p:nvPr/>
        </p:nvSpPr>
        <p:spPr>
          <a:xfrm>
            <a:off x="8077200" y="2147738"/>
            <a:ext cx="3581400" cy="1672976"/>
          </a:xfrm>
          <a:prstGeom prst="roundRect">
            <a:avLst>
              <a:gd fmla="val 6832" name="adj"/>
            </a:avLst>
          </a:prstGeom>
          <a:solidFill>
            <a:srgbClr val="FFFFFF"/>
          </a:solidFill>
          <a:ln cap="flat" cmpd="sng" w="9525">
            <a:solidFill>
              <a:srgbClr val="E2DD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/>
          <p:cNvSpPr/>
          <p:nvPr/>
        </p:nvSpPr>
        <p:spPr>
          <a:xfrm>
            <a:off x="533400" y="4011215"/>
            <a:ext cx="5467350" cy="1331118"/>
          </a:xfrm>
          <a:prstGeom prst="roundRect">
            <a:avLst>
              <a:gd fmla="val 8586" name="adj"/>
            </a:avLst>
          </a:prstGeom>
          <a:solidFill>
            <a:srgbClr val="FFFFFF"/>
          </a:solidFill>
          <a:ln cap="flat" cmpd="sng" w="9525">
            <a:solidFill>
              <a:srgbClr val="E2DD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4"/>
          <p:cNvSpPr/>
          <p:nvPr/>
        </p:nvSpPr>
        <p:spPr>
          <a:xfrm>
            <a:off x="6191250" y="4011215"/>
            <a:ext cx="5467350" cy="1331118"/>
          </a:xfrm>
          <a:prstGeom prst="roundRect">
            <a:avLst>
              <a:gd fmla="val 8586" name="adj"/>
            </a:avLst>
          </a:prstGeom>
          <a:solidFill>
            <a:srgbClr val="FFFFFF"/>
          </a:solidFill>
          <a:ln cap="flat" cmpd="sng" w="9525">
            <a:solidFill>
              <a:srgbClr val="E2DD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3" name="Google Shape;11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59675" y="6129338"/>
            <a:ext cx="2000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4"/>
          <p:cNvSpPr txBox="1"/>
          <p:nvPr/>
        </p:nvSpPr>
        <p:spPr>
          <a:xfrm>
            <a:off x="955050" y="6153150"/>
            <a:ext cx="10608300" cy="16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75" u="none" cap="none" strike="noStrike">
                <a:solidFill>
                  <a:srgbClr val="D98E72"/>
                </a:solidFill>
                <a:latin typeface="Inter"/>
                <a:ea typeface="Inter"/>
                <a:cs typeface="Inter"/>
                <a:sym typeface="Inter"/>
              </a:rPr>
              <a:t>Agriculture must produce substantially more food while freshwater availability faces unprecedented stress.</a:t>
            </a:r>
            <a:endParaRPr sz="1500">
              <a:solidFill>
                <a:srgbClr val="D98E72"/>
              </a:solidFill>
            </a:endParaRPr>
          </a:p>
        </p:txBody>
      </p:sp>
      <p:sp>
        <p:nvSpPr>
          <p:cNvPr id="115" name="Google Shape;115;p14"/>
          <p:cNvSpPr txBox="1"/>
          <p:nvPr/>
        </p:nvSpPr>
        <p:spPr>
          <a:xfrm>
            <a:off x="533400" y="419100"/>
            <a:ext cx="116586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C86B4B"/>
                </a:solidFill>
                <a:latin typeface="Inter"/>
                <a:ea typeface="Inter"/>
                <a:cs typeface="Inter"/>
                <a:sym typeface="Inter"/>
              </a:rPr>
              <a:t>AI POWERED SMART IRRIGATION SYSTEM FOR PREDICTIVE WATER MANAGEMENT AND C</a:t>
            </a:r>
            <a:r>
              <a:rPr b="1" lang="en-US" sz="975">
                <a:solidFill>
                  <a:srgbClr val="C86B4B"/>
                </a:solidFill>
                <a:latin typeface="Inter"/>
                <a:ea typeface="Inter"/>
                <a:cs typeface="Inter"/>
                <a:sym typeface="Inter"/>
              </a:rPr>
              <a:t>ROP OPTIMIZATION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533400" y="1138763"/>
            <a:ext cx="91440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26058"/>
                </a:solidFill>
                <a:latin typeface="Inter"/>
                <a:ea typeface="Inter"/>
                <a:cs typeface="Inter"/>
                <a:sym typeface="Inter"/>
              </a:rPr>
              <a:t>Agriculture accounts for 72% of global freshwater withdrawals. Traditional irrigation relies on fixed schedules or manual decisions, failing to account for soil moisture, weather forecasts, or crop growth stages.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533400" y="628650"/>
            <a:ext cx="3525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132A2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01 — THE PROBLEM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9086850" y="628650"/>
            <a:ext cx="3105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32A20"/>
                </a:solidFill>
                <a:latin typeface="Inter"/>
                <a:ea typeface="Inter"/>
                <a:cs typeface="Inter"/>
                <a:sym typeface="Inter"/>
              </a:rPr>
              <a:t>Water Stress Meets Uncertain Irrigation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771525" y="2385863"/>
            <a:ext cx="388143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86B4B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771525" y="2662088"/>
            <a:ext cx="4075509" cy="222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32A2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Over-Irrigation Waste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771525" y="2961084"/>
            <a:ext cx="3200400" cy="6215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526058"/>
                </a:solidFill>
                <a:latin typeface="Inter"/>
                <a:ea typeface="Inter"/>
                <a:cs typeface="Inter"/>
                <a:sym typeface="Inter"/>
              </a:rPr>
              <a:t>Water applied when soil is saturated leads to deep percolation, evaporation, and severe runoff.</a:t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4543425" y="2385863"/>
            <a:ext cx="388143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86B4B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/>
          </a:p>
        </p:txBody>
      </p:sp>
      <p:sp>
        <p:nvSpPr>
          <p:cNvPr id="123" name="Google Shape;123;p14"/>
          <p:cNvSpPr txBox="1"/>
          <p:nvPr/>
        </p:nvSpPr>
        <p:spPr>
          <a:xfrm>
            <a:off x="4543425" y="2662088"/>
            <a:ext cx="4075509" cy="222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32A2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Weather Uncertainty</a:t>
            </a:r>
            <a:endParaRPr/>
          </a:p>
        </p:txBody>
      </p:sp>
      <p:sp>
        <p:nvSpPr>
          <p:cNvPr id="124" name="Google Shape;124;p14"/>
          <p:cNvSpPr txBox="1"/>
          <p:nvPr/>
        </p:nvSpPr>
        <p:spPr>
          <a:xfrm>
            <a:off x="4543425" y="2961084"/>
            <a:ext cx="3200400" cy="6215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526058"/>
                </a:solidFill>
                <a:latin typeface="Inter"/>
                <a:ea typeface="Inter"/>
                <a:cs typeface="Inter"/>
                <a:sym typeface="Inter"/>
              </a:rPr>
              <a:t>Fluctuating temperature, rainfall, and evapotranspiration constantly change crop water demand.</a:t>
            </a:r>
            <a:endParaRPr/>
          </a:p>
        </p:txBody>
      </p:sp>
      <p:sp>
        <p:nvSpPr>
          <p:cNvPr id="125" name="Google Shape;125;p14"/>
          <p:cNvSpPr txBox="1"/>
          <p:nvPr/>
        </p:nvSpPr>
        <p:spPr>
          <a:xfrm>
            <a:off x="8315325" y="2385863"/>
            <a:ext cx="38766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86B4B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/>
          </a:p>
        </p:txBody>
      </p:sp>
      <p:sp>
        <p:nvSpPr>
          <p:cNvPr id="126" name="Google Shape;126;p14"/>
          <p:cNvSpPr txBox="1"/>
          <p:nvPr/>
        </p:nvSpPr>
        <p:spPr>
          <a:xfrm>
            <a:off x="8315325" y="2662088"/>
            <a:ext cx="3876675" cy="222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32A2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Crop-Specific Dynamics</a:t>
            </a:r>
            <a:endParaRPr/>
          </a:p>
        </p:txBody>
      </p:sp>
      <p:sp>
        <p:nvSpPr>
          <p:cNvPr id="127" name="Google Shape;127;p14"/>
          <p:cNvSpPr txBox="1"/>
          <p:nvPr/>
        </p:nvSpPr>
        <p:spPr>
          <a:xfrm>
            <a:off x="8315325" y="2961084"/>
            <a:ext cx="3200400" cy="6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526058"/>
                </a:solidFill>
                <a:latin typeface="Inter"/>
                <a:ea typeface="Inter"/>
                <a:cs typeface="Inter"/>
                <a:sym typeface="Inter"/>
              </a:rPr>
              <a:t>Different crops, environmental conditions, and growth stages require tailored irrigation quantities and timing</a:t>
            </a:r>
            <a:endParaRPr/>
          </a:p>
        </p:txBody>
      </p:sp>
      <p:sp>
        <p:nvSpPr>
          <p:cNvPr id="128" name="Google Shape;128;p14"/>
          <p:cNvSpPr txBox="1"/>
          <p:nvPr/>
        </p:nvSpPr>
        <p:spPr>
          <a:xfrm>
            <a:off x="147637" y="4249340"/>
            <a:ext cx="623887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32A20"/>
                </a:solidFill>
                <a:latin typeface="Inter"/>
                <a:ea typeface="Inter"/>
                <a:cs typeface="Inter"/>
                <a:sym typeface="Inter"/>
              </a:rPr>
              <a:t>72%</a:t>
            </a:r>
            <a:endParaRPr/>
          </a:p>
        </p:txBody>
      </p:sp>
      <p:sp>
        <p:nvSpPr>
          <p:cNvPr id="129" name="Google Shape;129;p14"/>
          <p:cNvSpPr txBox="1"/>
          <p:nvPr/>
        </p:nvSpPr>
        <p:spPr>
          <a:xfrm>
            <a:off x="147637" y="4706540"/>
            <a:ext cx="62388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C86B4B"/>
                </a:solidFill>
                <a:latin typeface="Inter"/>
                <a:ea typeface="Inter"/>
                <a:cs typeface="Inter"/>
                <a:sym typeface="Inter"/>
              </a:rPr>
              <a:t>GLOBAL FRESHWATER WITHDRAWALS</a:t>
            </a:r>
            <a:endParaRPr/>
          </a:p>
        </p:txBody>
      </p:sp>
      <p:sp>
        <p:nvSpPr>
          <p:cNvPr id="130" name="Google Shape;130;p14"/>
          <p:cNvSpPr txBox="1"/>
          <p:nvPr/>
        </p:nvSpPr>
        <p:spPr>
          <a:xfrm>
            <a:off x="147637" y="4897040"/>
            <a:ext cx="6238875" cy="207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526058"/>
                </a:solidFill>
                <a:latin typeface="Inter"/>
                <a:ea typeface="Inter"/>
                <a:cs typeface="Inter"/>
                <a:sym typeface="Inter"/>
              </a:rPr>
              <a:t>Attributed directly to agricultural irrigation globally.</a:t>
            </a:r>
            <a:endParaRPr/>
          </a:p>
        </p:txBody>
      </p:sp>
      <p:sp>
        <p:nvSpPr>
          <p:cNvPr id="131" name="Google Shape;131;p14"/>
          <p:cNvSpPr txBox="1"/>
          <p:nvPr/>
        </p:nvSpPr>
        <p:spPr>
          <a:xfrm>
            <a:off x="5805487" y="4249340"/>
            <a:ext cx="623887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C86B4B"/>
                </a:solidFill>
                <a:latin typeface="Inter"/>
                <a:ea typeface="Inter"/>
                <a:cs typeface="Inter"/>
                <a:sym typeface="Inter"/>
              </a:rPr>
              <a:t>1.2B</a:t>
            </a:r>
            <a:endParaRPr/>
          </a:p>
        </p:txBody>
      </p:sp>
      <p:sp>
        <p:nvSpPr>
          <p:cNvPr id="132" name="Google Shape;132;p14"/>
          <p:cNvSpPr txBox="1"/>
          <p:nvPr/>
        </p:nvSpPr>
        <p:spPr>
          <a:xfrm>
            <a:off x="5805487" y="4706540"/>
            <a:ext cx="62388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C86B4B"/>
                </a:solidFill>
                <a:latin typeface="Inter"/>
                <a:ea typeface="Inter"/>
                <a:cs typeface="Inter"/>
                <a:sym typeface="Inter"/>
              </a:rPr>
              <a:t>PEOPLE AFFECTED</a:t>
            </a:r>
            <a:endParaRPr/>
          </a:p>
        </p:txBody>
      </p:sp>
      <p:sp>
        <p:nvSpPr>
          <p:cNvPr id="133" name="Google Shape;133;p14"/>
          <p:cNvSpPr txBox="1"/>
          <p:nvPr/>
        </p:nvSpPr>
        <p:spPr>
          <a:xfrm>
            <a:off x="5805487" y="4897040"/>
            <a:ext cx="6238875" cy="207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526058"/>
                </a:solidFill>
                <a:latin typeface="Inter"/>
                <a:ea typeface="Inter"/>
                <a:cs typeface="Inter"/>
                <a:sym typeface="Inter"/>
              </a:rPr>
              <a:t>Live in agricultural areas facing severe water constraints.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1EA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5"/>
          <p:cNvSpPr/>
          <p:nvPr/>
        </p:nvSpPr>
        <p:spPr>
          <a:xfrm>
            <a:off x="390525" y="6016075"/>
            <a:ext cx="11125200" cy="428700"/>
          </a:xfrm>
          <a:prstGeom prst="roundRect">
            <a:avLst>
              <a:gd fmla="val 17777" name="adj"/>
            </a:avLst>
          </a:prstGeom>
          <a:solidFill>
            <a:srgbClr val="132A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5"/>
          <p:cNvSpPr/>
          <p:nvPr/>
        </p:nvSpPr>
        <p:spPr>
          <a:xfrm>
            <a:off x="533400" y="2401639"/>
            <a:ext cx="11125200" cy="1259085"/>
          </a:xfrm>
          <a:prstGeom prst="roundRect">
            <a:avLst>
              <a:gd fmla="val 9078" name="adj"/>
            </a:avLst>
          </a:prstGeom>
          <a:solidFill>
            <a:srgbClr val="FFFFFF"/>
          </a:solidFill>
          <a:ln cap="flat" cmpd="sng" w="9525">
            <a:solidFill>
              <a:srgbClr val="E2DD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5"/>
          <p:cNvSpPr/>
          <p:nvPr/>
        </p:nvSpPr>
        <p:spPr>
          <a:xfrm>
            <a:off x="1562100" y="2620714"/>
            <a:ext cx="381000" cy="381000"/>
          </a:xfrm>
          <a:prstGeom prst="roundRect">
            <a:avLst>
              <a:gd fmla="val 50000" name="adj"/>
            </a:avLst>
          </a:prstGeom>
          <a:solidFill>
            <a:srgbClr val="132A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5"/>
          <p:cNvSpPr/>
          <p:nvPr/>
        </p:nvSpPr>
        <p:spPr>
          <a:xfrm>
            <a:off x="3733800" y="2620714"/>
            <a:ext cx="381000" cy="381000"/>
          </a:xfrm>
          <a:prstGeom prst="roundRect">
            <a:avLst>
              <a:gd fmla="val 50000" name="adj"/>
            </a:avLst>
          </a:prstGeom>
          <a:solidFill>
            <a:srgbClr val="132A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5"/>
          <p:cNvSpPr/>
          <p:nvPr/>
        </p:nvSpPr>
        <p:spPr>
          <a:xfrm>
            <a:off x="5905500" y="2620714"/>
            <a:ext cx="381000" cy="381000"/>
          </a:xfrm>
          <a:prstGeom prst="roundRect">
            <a:avLst>
              <a:gd fmla="val 50000" name="adj"/>
            </a:avLst>
          </a:prstGeom>
          <a:solidFill>
            <a:srgbClr val="C86B4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5"/>
          <p:cNvSpPr/>
          <p:nvPr/>
        </p:nvSpPr>
        <p:spPr>
          <a:xfrm>
            <a:off x="8077200" y="2620714"/>
            <a:ext cx="381000" cy="381000"/>
          </a:xfrm>
          <a:prstGeom prst="roundRect">
            <a:avLst>
              <a:gd fmla="val 50000" name="adj"/>
            </a:avLst>
          </a:prstGeom>
          <a:solidFill>
            <a:srgbClr val="132A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5"/>
          <p:cNvSpPr/>
          <p:nvPr/>
        </p:nvSpPr>
        <p:spPr>
          <a:xfrm>
            <a:off x="10248900" y="2620714"/>
            <a:ext cx="381000" cy="381000"/>
          </a:xfrm>
          <a:prstGeom prst="roundRect">
            <a:avLst>
              <a:gd fmla="val 50000" name="adj"/>
            </a:avLst>
          </a:prstGeom>
          <a:solidFill>
            <a:srgbClr val="132A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5" name="Google Shape;14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90825" y="2954982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2525" y="2954982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34225" y="2954982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05925" y="2954982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86100" y="6162675"/>
            <a:ext cx="13335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5"/>
          <p:cNvSpPr txBox="1"/>
          <p:nvPr/>
        </p:nvSpPr>
        <p:spPr>
          <a:xfrm>
            <a:off x="942975" y="6143625"/>
            <a:ext cx="10620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D98E72"/>
                </a:solidFill>
                <a:latin typeface="Inter"/>
                <a:ea typeface="Inter"/>
                <a:cs typeface="Inter"/>
                <a:sym typeface="Inter"/>
              </a:rPr>
              <a:t>Core Principle: Sense the field → Predict the need → Deliver only what the crop requires.</a:t>
            </a:r>
            <a:endParaRPr/>
          </a:p>
        </p:txBody>
      </p:sp>
      <p:sp>
        <p:nvSpPr>
          <p:cNvPr id="151" name="Google Shape;151;p15"/>
          <p:cNvSpPr txBox="1"/>
          <p:nvPr/>
        </p:nvSpPr>
        <p:spPr>
          <a:xfrm>
            <a:off x="533400" y="419100"/>
            <a:ext cx="116586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975">
                <a:solidFill>
                  <a:srgbClr val="C86B4B"/>
                </a:solidFill>
                <a:latin typeface="Inter"/>
                <a:ea typeface="Inter"/>
                <a:cs typeface="Inter"/>
                <a:sym typeface="Inter"/>
              </a:rPr>
              <a:t>AI POWERED SMART IRRIGATION SYSTEM FOR PREDICTIVE WATER MANAGEMENT AND CROP OPTIMIZATION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75">
              <a:solidFill>
                <a:srgbClr val="C86B4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2" name="Google Shape;152;p15"/>
          <p:cNvSpPr txBox="1"/>
          <p:nvPr/>
        </p:nvSpPr>
        <p:spPr>
          <a:xfrm>
            <a:off x="533400" y="1194200"/>
            <a:ext cx="91440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26058"/>
                </a:solidFill>
                <a:latin typeface="Inter"/>
                <a:ea typeface="Inter"/>
                <a:cs typeface="Inter"/>
                <a:sym typeface="Inter"/>
              </a:rPr>
              <a:t>Transforms irrigation from a reactive schedule into a predictive, data-driven control system that calculates upcoming crop water needs and automates precise zone watering.</a:t>
            </a:r>
            <a:endParaRPr/>
          </a:p>
        </p:txBody>
      </p:sp>
      <p:sp>
        <p:nvSpPr>
          <p:cNvPr id="153" name="Google Shape;153;p15"/>
          <p:cNvSpPr txBox="1"/>
          <p:nvPr/>
        </p:nvSpPr>
        <p:spPr>
          <a:xfrm>
            <a:off x="533400" y="628650"/>
            <a:ext cx="3712964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132A2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02 — THE SOLUTION</a:t>
            </a:r>
            <a:endParaRPr/>
          </a:p>
        </p:txBody>
      </p:sp>
      <p:sp>
        <p:nvSpPr>
          <p:cNvPr id="154" name="Google Shape;154;p15"/>
          <p:cNvSpPr txBox="1"/>
          <p:nvPr/>
        </p:nvSpPr>
        <p:spPr>
          <a:xfrm>
            <a:off x="9553575" y="781050"/>
            <a:ext cx="2631281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32A20"/>
                </a:solidFill>
                <a:latin typeface="Inter"/>
                <a:ea typeface="Inter"/>
                <a:cs typeface="Inter"/>
                <a:sym typeface="Inter"/>
              </a:rPr>
              <a:t>AI-Powered Predictive Irrigation</a:t>
            </a:r>
            <a:endParaRPr/>
          </a:p>
        </p:txBody>
      </p:sp>
      <p:sp>
        <p:nvSpPr>
          <p:cNvPr id="155" name="Google Shape;155;p15"/>
          <p:cNvSpPr txBox="1"/>
          <p:nvPr/>
        </p:nvSpPr>
        <p:spPr>
          <a:xfrm>
            <a:off x="1419225" y="2620714"/>
            <a:ext cx="6667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/>
          </a:p>
        </p:txBody>
      </p:sp>
      <p:sp>
        <p:nvSpPr>
          <p:cNvPr id="156" name="Google Shape;156;p15"/>
          <p:cNvSpPr txBox="1"/>
          <p:nvPr/>
        </p:nvSpPr>
        <p:spPr>
          <a:xfrm>
            <a:off x="1385887" y="3077914"/>
            <a:ext cx="73342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32A20"/>
                </a:solidFill>
                <a:latin typeface="Inter"/>
                <a:ea typeface="Inter"/>
                <a:cs typeface="Inter"/>
                <a:sym typeface="Inter"/>
              </a:rPr>
              <a:t>SENSE</a:t>
            </a:r>
            <a:endParaRPr/>
          </a:p>
        </p:txBody>
      </p:sp>
      <p:sp>
        <p:nvSpPr>
          <p:cNvPr id="157" name="Google Shape;157;p15"/>
          <p:cNvSpPr txBox="1"/>
          <p:nvPr/>
        </p:nvSpPr>
        <p:spPr>
          <a:xfrm>
            <a:off x="788193" y="3289250"/>
            <a:ext cx="1928812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526058"/>
                </a:solidFill>
                <a:latin typeface="Inter"/>
                <a:ea typeface="Inter"/>
                <a:cs typeface="Inter"/>
                <a:sym typeface="Inter"/>
              </a:rPr>
              <a:t>Soil moisture, temp &amp; flow</a:t>
            </a:r>
            <a:endParaRPr/>
          </a:p>
        </p:txBody>
      </p:sp>
      <p:sp>
        <p:nvSpPr>
          <p:cNvPr id="158" name="Google Shape;158;p15"/>
          <p:cNvSpPr txBox="1"/>
          <p:nvPr/>
        </p:nvSpPr>
        <p:spPr>
          <a:xfrm>
            <a:off x="3590925" y="2620714"/>
            <a:ext cx="6667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/>
          </a:p>
        </p:txBody>
      </p:sp>
      <p:sp>
        <p:nvSpPr>
          <p:cNvPr id="159" name="Google Shape;159;p15"/>
          <p:cNvSpPr txBox="1"/>
          <p:nvPr/>
        </p:nvSpPr>
        <p:spPr>
          <a:xfrm>
            <a:off x="3495675" y="3077914"/>
            <a:ext cx="857250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32A20"/>
                </a:solidFill>
                <a:latin typeface="Inter"/>
                <a:ea typeface="Inter"/>
                <a:cs typeface="Inter"/>
                <a:sym typeface="Inter"/>
              </a:rPr>
              <a:t>PREDICT</a:t>
            </a:r>
            <a:endParaRPr/>
          </a:p>
        </p:txBody>
      </p:sp>
      <p:sp>
        <p:nvSpPr>
          <p:cNvPr id="160" name="Google Shape;160;p15"/>
          <p:cNvSpPr txBox="1"/>
          <p:nvPr/>
        </p:nvSpPr>
        <p:spPr>
          <a:xfrm>
            <a:off x="2840831" y="3289250"/>
            <a:ext cx="216693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526058"/>
                </a:solidFill>
                <a:latin typeface="Inter"/>
                <a:ea typeface="Inter"/>
                <a:cs typeface="Inter"/>
                <a:sym typeface="Inter"/>
              </a:rPr>
              <a:t>ML estimates moisture deficit</a:t>
            </a:r>
            <a:endParaRPr/>
          </a:p>
        </p:txBody>
      </p:sp>
      <p:sp>
        <p:nvSpPr>
          <p:cNvPr id="161" name="Google Shape;161;p15"/>
          <p:cNvSpPr txBox="1"/>
          <p:nvPr/>
        </p:nvSpPr>
        <p:spPr>
          <a:xfrm>
            <a:off x="5762625" y="2620714"/>
            <a:ext cx="6667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/>
          </a:p>
        </p:txBody>
      </p:sp>
      <p:sp>
        <p:nvSpPr>
          <p:cNvPr id="162" name="Google Shape;162;p15"/>
          <p:cNvSpPr txBox="1"/>
          <p:nvPr/>
        </p:nvSpPr>
        <p:spPr>
          <a:xfrm>
            <a:off x="5629275" y="3077914"/>
            <a:ext cx="9336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32A20"/>
                </a:solidFill>
                <a:latin typeface="Inter"/>
                <a:ea typeface="Inter"/>
                <a:cs typeface="Inter"/>
                <a:sym typeface="Inter"/>
              </a:rPr>
              <a:t>RECOMMEND</a:t>
            </a:r>
            <a:endParaRPr/>
          </a:p>
        </p:txBody>
      </p:sp>
      <p:sp>
        <p:nvSpPr>
          <p:cNvPr id="163" name="Google Shape;163;p15"/>
          <p:cNvSpPr txBox="1"/>
          <p:nvPr/>
        </p:nvSpPr>
        <p:spPr>
          <a:xfrm>
            <a:off x="5072062" y="3289250"/>
            <a:ext cx="20478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rgbClr val="526058"/>
                </a:solidFill>
                <a:latin typeface="Inter"/>
                <a:ea typeface="Inter"/>
                <a:cs typeface="Inter"/>
                <a:sym typeface="Inter"/>
              </a:rPr>
              <a:t>Recommend type and quantity of </a:t>
            </a:r>
            <a:r>
              <a:rPr lang="en-US" sz="975">
                <a:solidFill>
                  <a:srgbClr val="526058"/>
                </a:solidFill>
                <a:latin typeface="Inter"/>
                <a:ea typeface="Inter"/>
                <a:cs typeface="Inter"/>
                <a:sym typeface="Inter"/>
              </a:rPr>
              <a:t>irrigation</a:t>
            </a:r>
            <a:r>
              <a:rPr lang="en-US" sz="975">
                <a:solidFill>
                  <a:srgbClr val="526058"/>
                </a:solidFill>
                <a:latin typeface="Inter"/>
                <a:ea typeface="Inter"/>
                <a:cs typeface="Inter"/>
                <a:sym typeface="Inter"/>
              </a:rPr>
              <a:t> required</a:t>
            </a:r>
            <a:endParaRPr/>
          </a:p>
        </p:txBody>
      </p:sp>
      <p:sp>
        <p:nvSpPr>
          <p:cNvPr id="164" name="Google Shape;164;p15"/>
          <p:cNvSpPr txBox="1"/>
          <p:nvPr/>
        </p:nvSpPr>
        <p:spPr>
          <a:xfrm>
            <a:off x="7934325" y="2620714"/>
            <a:ext cx="6667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  <a:endParaRPr/>
          </a:p>
        </p:txBody>
      </p:sp>
      <p:sp>
        <p:nvSpPr>
          <p:cNvPr id="165" name="Google Shape;165;p15"/>
          <p:cNvSpPr txBox="1"/>
          <p:nvPr/>
        </p:nvSpPr>
        <p:spPr>
          <a:xfrm>
            <a:off x="7839150" y="3064625"/>
            <a:ext cx="857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32A20"/>
                </a:solidFill>
                <a:latin typeface="Inter"/>
                <a:ea typeface="Inter"/>
                <a:cs typeface="Inter"/>
                <a:sym typeface="Inter"/>
              </a:rPr>
              <a:t>SCHEDULE</a:t>
            </a:r>
            <a:endParaRPr/>
          </a:p>
        </p:txBody>
      </p:sp>
      <p:sp>
        <p:nvSpPr>
          <p:cNvPr id="166" name="Google Shape;166;p15"/>
          <p:cNvSpPr txBox="1"/>
          <p:nvPr/>
        </p:nvSpPr>
        <p:spPr>
          <a:xfrm>
            <a:off x="7202090" y="3289250"/>
            <a:ext cx="21312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rgbClr val="526058"/>
                </a:solidFill>
                <a:latin typeface="Inter"/>
                <a:ea typeface="Inter"/>
                <a:cs typeface="Inter"/>
                <a:sym typeface="Inter"/>
              </a:rPr>
              <a:t>Schedule irrigation</a:t>
            </a:r>
            <a:endParaRPr/>
          </a:p>
        </p:txBody>
      </p:sp>
      <p:sp>
        <p:nvSpPr>
          <p:cNvPr id="167" name="Google Shape;167;p15"/>
          <p:cNvSpPr txBox="1"/>
          <p:nvPr/>
        </p:nvSpPr>
        <p:spPr>
          <a:xfrm>
            <a:off x="10106025" y="2620714"/>
            <a:ext cx="6667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05</a:t>
            </a:r>
            <a:endParaRPr/>
          </a:p>
        </p:txBody>
      </p:sp>
      <p:sp>
        <p:nvSpPr>
          <p:cNvPr id="168" name="Google Shape;168;p15"/>
          <p:cNvSpPr txBox="1"/>
          <p:nvPr/>
        </p:nvSpPr>
        <p:spPr>
          <a:xfrm>
            <a:off x="10072687" y="3077914"/>
            <a:ext cx="7335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32A20"/>
                </a:solidFill>
                <a:latin typeface="Inter"/>
                <a:ea typeface="Inter"/>
                <a:cs typeface="Inter"/>
                <a:sym typeface="Inter"/>
              </a:rPr>
              <a:t>MONITOR</a:t>
            </a:r>
            <a:endParaRPr/>
          </a:p>
        </p:txBody>
      </p:sp>
      <p:sp>
        <p:nvSpPr>
          <p:cNvPr id="169" name="Google Shape;169;p15"/>
          <p:cNvSpPr txBox="1"/>
          <p:nvPr/>
        </p:nvSpPr>
        <p:spPr>
          <a:xfrm>
            <a:off x="9451181" y="3289250"/>
            <a:ext cx="19764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rgbClr val="526058"/>
                </a:solidFill>
                <a:latin typeface="Inter"/>
                <a:ea typeface="Inter"/>
                <a:cs typeface="Inter"/>
                <a:sym typeface="Inter"/>
              </a:rPr>
              <a:t>Monitor fields for changing moisture levels</a:t>
            </a:r>
            <a:endParaRPr/>
          </a:p>
        </p:txBody>
      </p:sp>
      <p:sp>
        <p:nvSpPr>
          <p:cNvPr id="170" name="Google Shape;170;p15"/>
          <p:cNvSpPr txBox="1"/>
          <p:nvPr/>
        </p:nvSpPr>
        <p:spPr>
          <a:xfrm>
            <a:off x="6448425" y="4426446"/>
            <a:ext cx="5067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1" name="Google Shape;171;p15" title="Screenshot (202)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3400" y="3900602"/>
            <a:ext cx="4429500" cy="1875600"/>
          </a:xfrm>
          <a:prstGeom prst="roundRect">
            <a:avLst>
              <a:gd fmla="val 7635" name="adj"/>
            </a:avLst>
          </a:prstGeom>
          <a:noFill/>
          <a:ln>
            <a:noFill/>
          </a:ln>
        </p:spPr>
      </p:pic>
      <p:pic>
        <p:nvPicPr>
          <p:cNvPr id="172" name="Google Shape;172;p15" title="hist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770624" y="3910675"/>
            <a:ext cx="4338600" cy="1875600"/>
          </a:xfrm>
          <a:prstGeom prst="roundRect">
            <a:avLst>
              <a:gd fmla="val 8535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1EA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6"/>
          <p:cNvSpPr/>
          <p:nvPr/>
        </p:nvSpPr>
        <p:spPr>
          <a:xfrm>
            <a:off x="533400" y="6019800"/>
            <a:ext cx="11125200" cy="419100"/>
          </a:xfrm>
          <a:prstGeom prst="roundRect">
            <a:avLst>
              <a:gd fmla="val 18181" name="adj"/>
            </a:avLst>
          </a:prstGeom>
          <a:solidFill>
            <a:srgbClr val="132A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6"/>
          <p:cNvSpPr txBox="1"/>
          <p:nvPr/>
        </p:nvSpPr>
        <p:spPr>
          <a:xfrm>
            <a:off x="-333375" y="6153150"/>
            <a:ext cx="128589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D98E72"/>
                </a:solidFill>
                <a:latin typeface="Inter"/>
                <a:ea typeface="Inter"/>
                <a:cs typeface="Inter"/>
                <a:sym typeface="Inter"/>
              </a:rPr>
              <a:t>FIELD DATA → AI PREDICTION ENGINE → IRRIGATION CONTROL → PERFORMANCE FEEDBACK</a:t>
            </a:r>
            <a:endParaRPr>
              <a:solidFill>
                <a:srgbClr val="D98E72"/>
              </a:solidFill>
            </a:endParaRPr>
          </a:p>
        </p:txBody>
      </p:sp>
      <p:sp>
        <p:nvSpPr>
          <p:cNvPr id="179" name="Google Shape;179;p16"/>
          <p:cNvSpPr txBox="1"/>
          <p:nvPr/>
        </p:nvSpPr>
        <p:spPr>
          <a:xfrm>
            <a:off x="533400" y="419100"/>
            <a:ext cx="116586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975">
                <a:solidFill>
                  <a:srgbClr val="C86B4B"/>
                </a:solidFill>
                <a:latin typeface="Inter"/>
                <a:ea typeface="Inter"/>
                <a:cs typeface="Inter"/>
                <a:sym typeface="Inter"/>
              </a:rPr>
              <a:t>AI POWERED SMART IRRIGATION SYSTEM FOR PREDICTIVE WATER MANAGEMENT AND CROP OPTIMIZATION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75">
              <a:solidFill>
                <a:srgbClr val="C86B4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0" name="Google Shape;180;p16"/>
          <p:cNvSpPr txBox="1"/>
          <p:nvPr/>
        </p:nvSpPr>
        <p:spPr>
          <a:xfrm>
            <a:off x="533400" y="628650"/>
            <a:ext cx="11658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132A2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03 — WHO USES IT</a:t>
            </a:r>
            <a:endParaRPr/>
          </a:p>
        </p:txBody>
      </p:sp>
      <p:sp>
        <p:nvSpPr>
          <p:cNvPr id="181" name="Google Shape;181;p16"/>
          <p:cNvSpPr txBox="1"/>
          <p:nvPr/>
        </p:nvSpPr>
        <p:spPr>
          <a:xfrm>
            <a:off x="533400" y="1101100"/>
            <a:ext cx="11310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26058"/>
                </a:solidFill>
                <a:latin typeface="Inter"/>
                <a:ea typeface="Inter"/>
                <a:cs typeface="Inter"/>
                <a:sym typeface="Inter"/>
              </a:rPr>
              <a:t>Three distinct operational layers unified under a single precision farming platform.</a:t>
            </a:r>
            <a:endParaRPr/>
          </a:p>
        </p:txBody>
      </p:sp>
      <p:grpSp>
        <p:nvGrpSpPr>
          <p:cNvPr id="182" name="Google Shape;182;p16"/>
          <p:cNvGrpSpPr/>
          <p:nvPr/>
        </p:nvGrpSpPr>
        <p:grpSpPr>
          <a:xfrm>
            <a:off x="1330825" y="1476584"/>
            <a:ext cx="3667200" cy="4171518"/>
            <a:chOff x="684875" y="1434822"/>
            <a:chExt cx="3667200" cy="4171518"/>
          </a:xfrm>
        </p:grpSpPr>
        <p:pic>
          <p:nvPicPr>
            <p:cNvPr descr="image.png" id="183" name="Google Shape;183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682899" y="1803929"/>
              <a:ext cx="46526" cy="1714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4" name="Google Shape;184;p16"/>
            <p:cNvSpPr/>
            <p:nvPr/>
          </p:nvSpPr>
          <p:spPr>
            <a:xfrm>
              <a:off x="684875" y="1434822"/>
              <a:ext cx="3581400" cy="4121700"/>
            </a:xfrm>
            <a:prstGeom prst="roundRect">
              <a:avLst>
                <a:gd fmla="val 4812" name="adj"/>
              </a:avLst>
            </a:prstGeom>
            <a:solidFill>
              <a:srgbClr val="FFFFFF"/>
            </a:solidFill>
            <a:ln cap="flat" cmpd="sng" w="9525">
              <a:solidFill>
                <a:srgbClr val="E2DDD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85" name="Google Shape;185;p16"/>
            <p:cNvGrpSpPr/>
            <p:nvPr/>
          </p:nvGrpSpPr>
          <p:grpSpPr>
            <a:xfrm>
              <a:off x="831910" y="1648087"/>
              <a:ext cx="347103" cy="419075"/>
              <a:chOff x="1060575" y="1907150"/>
              <a:chExt cx="638175" cy="770500"/>
            </a:xfrm>
          </p:grpSpPr>
          <p:pic>
            <p:nvPicPr>
              <p:cNvPr descr="image.png" id="186" name="Google Shape;186;p16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60575" y="1907150"/>
                <a:ext cx="638175" cy="7705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image.png" id="187" name="Google Shape;187;p16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1151052" y="2105500"/>
                <a:ext cx="400050" cy="4000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88" name="Google Shape;188;p16"/>
            <p:cNvSpPr txBox="1"/>
            <p:nvPr/>
          </p:nvSpPr>
          <p:spPr>
            <a:xfrm>
              <a:off x="1947400" y="1800000"/>
              <a:ext cx="11061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992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350" u="none" cap="none" strike="noStrike">
                  <a:solidFill>
                    <a:srgbClr val="132A20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FARMERS</a:t>
              </a:r>
              <a:endParaRPr/>
            </a:p>
          </p:txBody>
        </p:sp>
        <p:sp>
          <p:nvSpPr>
            <p:cNvPr id="189" name="Google Shape;189;p16"/>
            <p:cNvSpPr txBox="1"/>
            <p:nvPr/>
          </p:nvSpPr>
          <p:spPr>
            <a:xfrm>
              <a:off x="1155825" y="3725095"/>
              <a:ext cx="762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6"/>
            <p:cNvSpPr txBox="1"/>
            <p:nvPr/>
          </p:nvSpPr>
          <p:spPr>
            <a:xfrm>
              <a:off x="684875" y="2335739"/>
              <a:ext cx="3667200" cy="327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76200" spcFirstLastPara="1" rIns="0" wrap="square" tIns="0">
              <a:spAutoFit/>
            </a:bodyPr>
            <a:lstStyle/>
            <a:p>
              <a:pPr indent="-298450" lvl="0" marL="457200" rtl="0" algn="l">
                <a:lnSpc>
                  <a:spcPct val="159904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SzPts val="1100"/>
                <a:buFont typeface="Inter"/>
                <a:buChar char="●"/>
              </a:pPr>
              <a:r>
                <a:rPr lang="en-US" sz="1100">
                  <a:solidFill>
                    <a:srgbClr val="757575"/>
                  </a:solidFill>
                  <a:latin typeface="Inter"/>
                  <a:ea typeface="Inter"/>
                  <a:cs typeface="Inter"/>
                  <a:sym typeface="Inter"/>
                </a:rPr>
                <a:t>Monitor field conditions</a:t>
              </a:r>
              <a:endParaRPr sz="1100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lnSpc>
                  <a:spcPct val="159904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SzPts val="1100"/>
                <a:buFont typeface="Inter"/>
                <a:buChar char="●"/>
              </a:pPr>
              <a:r>
                <a:rPr lang="en-US" sz="1100">
                  <a:solidFill>
                    <a:srgbClr val="757575"/>
                  </a:solidFill>
                  <a:latin typeface="Inter"/>
                  <a:ea typeface="Inter"/>
                  <a:cs typeface="Inter"/>
                  <a:sym typeface="Inter"/>
                </a:rPr>
                <a:t>View AI irrigation recommendations</a:t>
              </a:r>
              <a:endParaRPr sz="1100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lnSpc>
                  <a:spcPct val="159904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SzPts val="1100"/>
                <a:buFont typeface="Inter"/>
                <a:buChar char="●"/>
              </a:pPr>
              <a:r>
                <a:rPr lang="en-US" sz="1100">
                  <a:solidFill>
                    <a:srgbClr val="757575"/>
                  </a:solidFill>
                  <a:latin typeface="Inter"/>
                  <a:ea typeface="Inter"/>
                  <a:cs typeface="Inter"/>
                  <a:sym typeface="Inter"/>
                </a:rPr>
                <a:t>View irrigation schedules</a:t>
              </a:r>
              <a:endParaRPr sz="1100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lnSpc>
                  <a:spcPct val="159904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SzPts val="1100"/>
                <a:buFont typeface="Inter"/>
                <a:buChar char="●"/>
              </a:pPr>
              <a:r>
                <a:rPr lang="en-US" sz="1100">
                  <a:solidFill>
                    <a:srgbClr val="757575"/>
                  </a:solidFill>
                  <a:latin typeface="Inter"/>
                  <a:ea typeface="Inter"/>
                  <a:cs typeface="Inter"/>
                  <a:sym typeface="Inter"/>
                </a:rPr>
                <a:t>Monitor soil moisture</a:t>
              </a:r>
              <a:endParaRPr sz="1100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lnSpc>
                  <a:spcPct val="159904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SzPts val="1100"/>
                <a:buFont typeface="Inter"/>
                <a:buChar char="●"/>
              </a:pPr>
              <a:r>
                <a:rPr lang="en-US" sz="1100">
                  <a:solidFill>
                    <a:srgbClr val="757575"/>
                  </a:solidFill>
                  <a:latin typeface="Inter"/>
                  <a:ea typeface="Inter"/>
                  <a:cs typeface="Inter"/>
                  <a:sym typeface="Inter"/>
                </a:rPr>
                <a:t>View weather information</a:t>
              </a:r>
              <a:endParaRPr sz="1100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lnSpc>
                  <a:spcPct val="159904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SzPts val="1100"/>
                <a:buFont typeface="Inter"/>
                <a:buChar char="●"/>
              </a:pPr>
              <a:r>
                <a:rPr lang="en-US" sz="1100">
                  <a:solidFill>
                    <a:srgbClr val="757575"/>
                  </a:solidFill>
                  <a:latin typeface="Inter"/>
                  <a:ea typeface="Inter"/>
                  <a:cs typeface="Inter"/>
                  <a:sym typeface="Inter"/>
                </a:rPr>
                <a:t>View irrigation history</a:t>
              </a:r>
              <a:endParaRPr sz="1100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lnSpc>
                  <a:spcPct val="159904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SzPts val="1100"/>
                <a:buFont typeface="Inter"/>
                <a:buChar char="●"/>
              </a:pPr>
              <a:r>
                <a:rPr lang="en-US" sz="1100">
                  <a:solidFill>
                    <a:srgbClr val="757575"/>
                  </a:solidFill>
                  <a:latin typeface="Inter"/>
                  <a:ea typeface="Inter"/>
                  <a:cs typeface="Inter"/>
                  <a:sym typeface="Inter"/>
                </a:rPr>
                <a:t>View sensor history</a:t>
              </a:r>
              <a:endParaRPr sz="1100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lnSpc>
                  <a:spcPct val="159904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SzPts val="1100"/>
                <a:buFont typeface="Inter"/>
                <a:buChar char="●"/>
              </a:pPr>
              <a:r>
                <a:rPr lang="en-US" sz="1100">
                  <a:solidFill>
                    <a:srgbClr val="757575"/>
                  </a:solidFill>
                  <a:latin typeface="Inter"/>
                  <a:ea typeface="Inter"/>
                  <a:cs typeface="Inter"/>
                  <a:sym typeface="Inter"/>
                </a:rPr>
                <a:t>Receive alerts</a:t>
              </a:r>
              <a:endParaRPr sz="1100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lnSpc>
                  <a:spcPct val="159904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SzPts val="1100"/>
                <a:buFont typeface="Inter"/>
                <a:buChar char="●"/>
              </a:pPr>
              <a:r>
                <a:rPr lang="en-US" sz="1100">
                  <a:solidFill>
                    <a:srgbClr val="757575"/>
                  </a:solidFill>
                  <a:latin typeface="Inter"/>
                  <a:ea typeface="Inter"/>
                  <a:cs typeface="Inter"/>
                  <a:sym typeface="Inter"/>
                </a:rPr>
                <a:t>Use regional-language support</a:t>
              </a:r>
              <a:endParaRPr sz="1100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lnSpc>
                  <a:spcPct val="159904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SzPts val="1100"/>
                <a:buFont typeface="Inter"/>
                <a:buChar char="●"/>
              </a:pPr>
              <a:r>
                <a:rPr lang="en-US" sz="1100">
                  <a:solidFill>
                    <a:srgbClr val="757575"/>
                  </a:solidFill>
                  <a:latin typeface="Inter"/>
                  <a:ea typeface="Inter"/>
                  <a:cs typeface="Inter"/>
                  <a:sym typeface="Inter"/>
                </a:rPr>
                <a:t>Us</a:t>
              </a:r>
              <a:r>
                <a:rPr lang="en-US" sz="1100">
                  <a:solidFill>
                    <a:srgbClr val="757575"/>
                  </a:solidFill>
                  <a:latin typeface="Inter"/>
                  <a:ea typeface="Inter"/>
                  <a:cs typeface="Inter"/>
                  <a:sym typeface="Inter"/>
                </a:rPr>
                <a:t>e voice assistant</a:t>
              </a:r>
              <a:endParaRPr sz="1100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lnSpc>
                  <a:spcPct val="159904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SzPts val="1100"/>
                <a:buFont typeface="Inter"/>
                <a:buChar char="●"/>
              </a:pPr>
              <a:r>
                <a:rPr lang="en-US" sz="1100">
                  <a:solidFill>
                    <a:srgbClr val="757575"/>
                  </a:solidFill>
                  <a:latin typeface="Inter"/>
                  <a:ea typeface="Inter"/>
                  <a:cs typeface="Inter"/>
                  <a:sym typeface="Inter"/>
                </a:rPr>
                <a:t>Manage fields and profile</a:t>
              </a:r>
              <a:endParaRPr sz="1100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5990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rgbClr val="757575"/>
                </a:solidFill>
              </a:endParaRPr>
            </a:p>
          </p:txBody>
        </p:sp>
        <p:sp>
          <p:nvSpPr>
            <p:cNvPr id="191" name="Google Shape;191;p16"/>
            <p:cNvSpPr txBox="1"/>
            <p:nvPr/>
          </p:nvSpPr>
          <p:spPr>
            <a:xfrm>
              <a:off x="1155825" y="4095204"/>
              <a:ext cx="762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16"/>
            <p:cNvSpPr txBox="1"/>
            <p:nvPr/>
          </p:nvSpPr>
          <p:spPr>
            <a:xfrm>
              <a:off x="1155825" y="4465315"/>
              <a:ext cx="762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16"/>
            <p:cNvSpPr txBox="1"/>
            <p:nvPr/>
          </p:nvSpPr>
          <p:spPr>
            <a:xfrm>
              <a:off x="1155825" y="4835425"/>
              <a:ext cx="762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94" name="Google Shape;194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94125" y="1347800"/>
            <a:ext cx="2952733" cy="442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6" title="hist.png"/>
          <p:cNvPicPr preferRelativeResize="0"/>
          <p:nvPr/>
        </p:nvPicPr>
        <p:blipFill rotWithShape="1">
          <a:blip r:embed="rId7">
            <a:alphaModFix/>
          </a:blip>
          <a:srcRect b="0" l="12489" r="11315" t="0"/>
          <a:stretch/>
        </p:blipFill>
        <p:spPr>
          <a:xfrm rot="403314">
            <a:off x="7389865" y="3577616"/>
            <a:ext cx="732567" cy="5622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1EA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0" name="Google Shape;20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41839" y="2639317"/>
            <a:ext cx="1143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7"/>
          <p:cNvSpPr txBox="1"/>
          <p:nvPr/>
        </p:nvSpPr>
        <p:spPr>
          <a:xfrm>
            <a:off x="533400" y="419100"/>
            <a:ext cx="116586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975">
                <a:solidFill>
                  <a:srgbClr val="C86B4B"/>
                </a:solidFill>
                <a:latin typeface="Inter"/>
                <a:ea typeface="Inter"/>
                <a:cs typeface="Inter"/>
                <a:sym typeface="Inter"/>
              </a:rPr>
              <a:t>AI POWERED SMART IRRIGATION SYSTEM FOR PREDICTIVE WATER MANAGEMENT AND CROP OPTIMIZATION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75">
              <a:solidFill>
                <a:srgbClr val="C86B4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2" name="Google Shape;202;p17"/>
          <p:cNvSpPr txBox="1"/>
          <p:nvPr/>
        </p:nvSpPr>
        <p:spPr>
          <a:xfrm>
            <a:off x="533400" y="1181975"/>
            <a:ext cx="91440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26058"/>
                </a:solidFill>
                <a:latin typeface="Inter"/>
                <a:ea typeface="Inter"/>
                <a:cs typeface="Inter"/>
                <a:sym typeface="Inter"/>
              </a:rPr>
              <a:t>Creates a real-time digital representation of the field combining continuous </a:t>
            </a:r>
            <a:r>
              <a:rPr lang="en-US" sz="1200">
                <a:solidFill>
                  <a:srgbClr val="526058"/>
                </a:solidFill>
                <a:latin typeface="Inter"/>
                <a:ea typeface="Inter"/>
                <a:cs typeface="Inter"/>
                <a:sym typeface="Inter"/>
              </a:rPr>
              <a:t>simulated sensor telemetry representing field soil-moisture conditions</a:t>
            </a:r>
            <a:r>
              <a:rPr b="0" i="0" lang="en-US" sz="1200" u="none" cap="none" strike="noStrike">
                <a:solidFill>
                  <a:srgbClr val="526058"/>
                </a:solidFill>
                <a:latin typeface="Inter"/>
                <a:ea typeface="Inter"/>
                <a:cs typeface="Inter"/>
                <a:sym typeface="Inter"/>
              </a:rPr>
              <a:t>, weather forecasts, and automated anomaly detection.</a:t>
            </a:r>
            <a:endParaRPr/>
          </a:p>
        </p:txBody>
      </p:sp>
      <p:sp>
        <p:nvSpPr>
          <p:cNvPr id="203" name="Google Shape;203;p17"/>
          <p:cNvSpPr txBox="1"/>
          <p:nvPr/>
        </p:nvSpPr>
        <p:spPr>
          <a:xfrm>
            <a:off x="533400" y="628650"/>
            <a:ext cx="312539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132A2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04 — MODULE 01</a:t>
            </a:r>
            <a:endParaRPr/>
          </a:p>
        </p:txBody>
      </p:sp>
      <p:sp>
        <p:nvSpPr>
          <p:cNvPr id="204" name="Google Shape;204;p17"/>
          <p:cNvSpPr txBox="1"/>
          <p:nvPr/>
        </p:nvSpPr>
        <p:spPr>
          <a:xfrm>
            <a:off x="9867900" y="781050"/>
            <a:ext cx="22383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32A20"/>
                </a:solidFill>
                <a:latin typeface="Inter"/>
                <a:ea typeface="Inter"/>
                <a:cs typeface="Inter"/>
                <a:sym typeface="Inter"/>
              </a:rPr>
              <a:t>Sense. Detect. Understand.</a:t>
            </a:r>
            <a:endParaRPr/>
          </a:p>
        </p:txBody>
      </p:sp>
      <p:grpSp>
        <p:nvGrpSpPr>
          <p:cNvPr id="205" name="Google Shape;205;p17"/>
          <p:cNvGrpSpPr/>
          <p:nvPr/>
        </p:nvGrpSpPr>
        <p:grpSpPr>
          <a:xfrm>
            <a:off x="5960864" y="1940080"/>
            <a:ext cx="6231075" cy="984795"/>
            <a:chOff x="5960864" y="2439292"/>
            <a:chExt cx="6231075" cy="984795"/>
          </a:xfrm>
        </p:grpSpPr>
        <p:sp>
          <p:nvSpPr>
            <p:cNvPr id="206" name="Google Shape;206;p17"/>
            <p:cNvSpPr/>
            <p:nvPr/>
          </p:nvSpPr>
          <p:spPr>
            <a:xfrm>
              <a:off x="5960864" y="2439292"/>
              <a:ext cx="5697735" cy="984795"/>
            </a:xfrm>
            <a:prstGeom prst="roundRect">
              <a:avLst>
                <a:gd fmla="val 11606" name="adj"/>
              </a:avLst>
            </a:prstGeom>
            <a:solidFill>
              <a:srgbClr val="FFFFFF"/>
            </a:solidFill>
            <a:ln cap="flat" cmpd="sng" w="9525">
              <a:solidFill>
                <a:srgbClr val="E2DDD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" name="Google Shape;207;p17"/>
            <p:cNvSpPr txBox="1"/>
            <p:nvPr/>
          </p:nvSpPr>
          <p:spPr>
            <a:xfrm>
              <a:off x="6141839" y="2620267"/>
              <a:ext cx="60501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19050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132A20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Real-Time Field Intelligence</a:t>
              </a:r>
              <a:endParaRPr/>
            </a:p>
          </p:txBody>
        </p:sp>
        <p:sp>
          <p:nvSpPr>
            <p:cNvPr id="208" name="Google Shape;208;p17"/>
            <p:cNvSpPr txBox="1"/>
            <p:nvPr/>
          </p:nvSpPr>
          <p:spPr>
            <a:xfrm>
              <a:off x="6141839" y="2856458"/>
              <a:ext cx="5430900" cy="39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495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50" u="none" cap="none" strike="noStrike">
                  <a:solidFill>
                    <a:srgbClr val="526058"/>
                  </a:solidFill>
                  <a:latin typeface="Inter"/>
                  <a:ea typeface="Inter"/>
                  <a:cs typeface="Inter"/>
                  <a:sym typeface="Inter"/>
                </a:rPr>
                <a:t>Measures root-zone moisture, ambient temperature/humidity, rainfall precipitation</a:t>
              </a:r>
              <a:r>
                <a:rPr lang="en-US" sz="1050">
                  <a:solidFill>
                    <a:srgbClr val="526058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0" i="0" lang="en-US" sz="1050" u="none" cap="none" strike="noStrike">
                  <a:solidFill>
                    <a:srgbClr val="526058"/>
                  </a:solidFill>
                  <a:latin typeface="Inter"/>
                  <a:ea typeface="Inter"/>
                  <a:cs typeface="Inter"/>
                  <a:sym typeface="Inter"/>
                </a:rPr>
                <a:t> and short-term weather forecasts.</a:t>
              </a:r>
              <a:endParaRPr/>
            </a:p>
          </p:txBody>
        </p:sp>
      </p:grpSp>
      <p:grpSp>
        <p:nvGrpSpPr>
          <p:cNvPr id="209" name="Google Shape;209;p17"/>
          <p:cNvGrpSpPr/>
          <p:nvPr/>
        </p:nvGrpSpPr>
        <p:grpSpPr>
          <a:xfrm>
            <a:off x="5960864" y="3748363"/>
            <a:ext cx="6231075" cy="984900"/>
            <a:chOff x="5960864" y="3538388"/>
            <a:chExt cx="6231075" cy="984900"/>
          </a:xfrm>
        </p:grpSpPr>
        <p:sp>
          <p:nvSpPr>
            <p:cNvPr id="210" name="Google Shape;210;p17"/>
            <p:cNvSpPr/>
            <p:nvPr/>
          </p:nvSpPr>
          <p:spPr>
            <a:xfrm>
              <a:off x="5960864" y="3538388"/>
              <a:ext cx="5697600" cy="984900"/>
            </a:xfrm>
            <a:prstGeom prst="roundRect">
              <a:avLst>
                <a:gd fmla="val 11606" name="adj"/>
              </a:avLst>
            </a:prstGeom>
            <a:solidFill>
              <a:srgbClr val="FFFFFF"/>
            </a:solidFill>
            <a:ln cap="flat" cmpd="sng" w="9525">
              <a:solidFill>
                <a:srgbClr val="E2DDD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image.png" id="211" name="Google Shape;211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41839" y="3738413"/>
              <a:ext cx="171450" cy="152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2" name="Google Shape;212;p17"/>
            <p:cNvSpPr txBox="1"/>
            <p:nvPr/>
          </p:nvSpPr>
          <p:spPr>
            <a:xfrm>
              <a:off x="6141839" y="3719363"/>
              <a:ext cx="60501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24765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132A20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Sensor Fusion Layer</a:t>
              </a:r>
              <a:endParaRPr/>
            </a:p>
          </p:txBody>
        </p:sp>
        <p:sp>
          <p:nvSpPr>
            <p:cNvPr id="213" name="Google Shape;213;p17"/>
            <p:cNvSpPr txBox="1"/>
            <p:nvPr/>
          </p:nvSpPr>
          <p:spPr>
            <a:xfrm>
              <a:off x="6141839" y="3955553"/>
              <a:ext cx="5430900" cy="39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495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50" u="none" cap="none" strike="noStrike">
                  <a:solidFill>
                    <a:srgbClr val="526058"/>
                  </a:solidFill>
                  <a:latin typeface="Inter"/>
                  <a:ea typeface="Inter"/>
                  <a:cs typeface="Inter"/>
                  <a:sym typeface="Inter"/>
                </a:rPr>
                <a:t>Combines Soil Data + Weather Data + Crop Stage + Irrigation History to synthesize a unified real-time field state.</a:t>
              </a:r>
              <a:endParaRPr/>
            </a:p>
          </p:txBody>
        </p:sp>
      </p:grpSp>
      <p:grpSp>
        <p:nvGrpSpPr>
          <p:cNvPr id="214" name="Google Shape;214;p17"/>
          <p:cNvGrpSpPr/>
          <p:nvPr/>
        </p:nvGrpSpPr>
        <p:grpSpPr>
          <a:xfrm>
            <a:off x="5960864" y="5556759"/>
            <a:ext cx="6231075" cy="984795"/>
            <a:chOff x="5960864" y="4637484"/>
            <a:chExt cx="6231075" cy="984795"/>
          </a:xfrm>
        </p:grpSpPr>
        <p:sp>
          <p:nvSpPr>
            <p:cNvPr id="215" name="Google Shape;215;p17"/>
            <p:cNvSpPr/>
            <p:nvPr/>
          </p:nvSpPr>
          <p:spPr>
            <a:xfrm>
              <a:off x="5960864" y="4637484"/>
              <a:ext cx="5697735" cy="984795"/>
            </a:xfrm>
            <a:prstGeom prst="roundRect">
              <a:avLst>
                <a:gd fmla="val 11606" name="adj"/>
              </a:avLst>
            </a:prstGeom>
            <a:solidFill>
              <a:srgbClr val="FFFFFF"/>
            </a:solidFill>
            <a:ln cap="flat" cmpd="sng" w="9525">
              <a:solidFill>
                <a:srgbClr val="E2DDD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image.png" id="216" name="Google Shape;216;p1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141839" y="4837509"/>
              <a:ext cx="152400" cy="152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7" name="Google Shape;217;p17"/>
            <p:cNvSpPr txBox="1"/>
            <p:nvPr/>
          </p:nvSpPr>
          <p:spPr>
            <a:xfrm>
              <a:off x="6141839" y="4818459"/>
              <a:ext cx="60501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22860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132A20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Sensor Validation and Missing-Data Checks</a:t>
              </a:r>
              <a:endParaRPr/>
            </a:p>
          </p:txBody>
        </p:sp>
        <p:sp>
          <p:nvSpPr>
            <p:cNvPr id="218" name="Google Shape;218;p17"/>
            <p:cNvSpPr txBox="1"/>
            <p:nvPr/>
          </p:nvSpPr>
          <p:spPr>
            <a:xfrm>
              <a:off x="6141839" y="5054649"/>
              <a:ext cx="5430900" cy="39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495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50" u="none" cap="none" strike="noStrike">
                  <a:solidFill>
                    <a:srgbClr val="526058"/>
                  </a:solidFill>
                  <a:latin typeface="Inter"/>
                  <a:ea typeface="Inter"/>
                  <a:cs typeface="Inter"/>
                  <a:sym typeface="Inter"/>
                </a:rPr>
                <a:t>Identifies sensor failures, missing readings, and abnormal spikes to prevent corrupted data from affecting decisions.</a:t>
              </a:r>
              <a:endParaRPr/>
            </a:p>
          </p:txBody>
        </p:sp>
      </p:grpSp>
      <p:pic>
        <p:nvPicPr>
          <p:cNvPr id="219" name="Google Shape;219;p17" title="Screenshot (201)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20250" y="1940075"/>
            <a:ext cx="4745700" cy="2130600"/>
          </a:xfrm>
          <a:prstGeom prst="roundRect">
            <a:avLst>
              <a:gd fmla="val 12887" name="adj"/>
            </a:avLst>
          </a:prstGeom>
          <a:noFill/>
          <a:ln>
            <a:noFill/>
          </a:ln>
        </p:spPr>
      </p:pic>
      <p:pic>
        <p:nvPicPr>
          <p:cNvPr id="220" name="Google Shape;220;p17" title="Screenshot (205)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87650" y="4376449"/>
            <a:ext cx="4811100" cy="2165100"/>
          </a:xfrm>
          <a:prstGeom prst="roundRect">
            <a:avLst>
              <a:gd fmla="val 8625" name="adj"/>
            </a:avLst>
          </a:prstGeom>
          <a:noFill/>
          <a:ln>
            <a:noFill/>
          </a:ln>
        </p:spPr>
      </p:pic>
      <p:pic>
        <p:nvPicPr>
          <p:cNvPr descr="image.png" id="221" name="Google Shape;221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127563" y="2135850"/>
            <a:ext cx="142875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1EA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8"/>
          <p:cNvSpPr txBox="1"/>
          <p:nvPr/>
        </p:nvSpPr>
        <p:spPr>
          <a:xfrm>
            <a:off x="533400" y="419100"/>
            <a:ext cx="116586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975">
                <a:solidFill>
                  <a:srgbClr val="C86B4B"/>
                </a:solidFill>
                <a:latin typeface="Inter"/>
                <a:ea typeface="Inter"/>
                <a:cs typeface="Inter"/>
                <a:sym typeface="Inter"/>
              </a:rPr>
              <a:t>AI POWERED SMART IRRIGATION SYSTEM FOR PREDICTIVE WATER MANAGEMENT AND CROP OPTIMIZATION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75">
              <a:solidFill>
                <a:srgbClr val="C86B4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7" name="Google Shape;227;p18"/>
          <p:cNvSpPr txBox="1"/>
          <p:nvPr/>
        </p:nvSpPr>
        <p:spPr>
          <a:xfrm>
            <a:off x="533400" y="1349225"/>
            <a:ext cx="91440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26058"/>
                </a:solidFill>
                <a:latin typeface="Inter"/>
                <a:ea typeface="Inter"/>
                <a:cs typeface="Inter"/>
                <a:sym typeface="Inter"/>
              </a:rPr>
              <a:t>The AI predictive engine evaluates field inputs, crop characteristics, and weather models to calculate required irrigation volume and duration.</a:t>
            </a:r>
            <a:endParaRPr/>
          </a:p>
        </p:txBody>
      </p:sp>
      <p:sp>
        <p:nvSpPr>
          <p:cNvPr id="228" name="Google Shape;228;p18"/>
          <p:cNvSpPr txBox="1"/>
          <p:nvPr/>
        </p:nvSpPr>
        <p:spPr>
          <a:xfrm>
            <a:off x="533400" y="628650"/>
            <a:ext cx="317539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132A2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05 — MODULE 02</a:t>
            </a:r>
            <a:endParaRPr/>
          </a:p>
        </p:txBody>
      </p:sp>
      <p:sp>
        <p:nvSpPr>
          <p:cNvPr id="229" name="Google Shape;229;p18"/>
          <p:cNvSpPr txBox="1"/>
          <p:nvPr/>
        </p:nvSpPr>
        <p:spPr>
          <a:xfrm>
            <a:off x="10134600" y="781050"/>
            <a:ext cx="19050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32A20"/>
                </a:solidFill>
                <a:latin typeface="Inter"/>
                <a:ea typeface="Inter"/>
                <a:cs typeface="Inter"/>
                <a:sym typeface="Inter"/>
              </a:rPr>
              <a:t>Right Water, Right Time</a:t>
            </a:r>
            <a:endParaRPr/>
          </a:p>
        </p:txBody>
      </p:sp>
      <p:grpSp>
        <p:nvGrpSpPr>
          <p:cNvPr id="230" name="Google Shape;230;p18"/>
          <p:cNvGrpSpPr/>
          <p:nvPr/>
        </p:nvGrpSpPr>
        <p:grpSpPr>
          <a:xfrm>
            <a:off x="533413" y="2431442"/>
            <a:ext cx="5762625" cy="1037332"/>
            <a:chOff x="533400" y="2572642"/>
            <a:chExt cx="5762625" cy="1037332"/>
          </a:xfrm>
        </p:grpSpPr>
        <p:sp>
          <p:nvSpPr>
            <p:cNvPr id="231" name="Google Shape;231;p18"/>
            <p:cNvSpPr/>
            <p:nvPr/>
          </p:nvSpPr>
          <p:spPr>
            <a:xfrm>
              <a:off x="533400" y="2572642"/>
              <a:ext cx="5762625" cy="1037332"/>
            </a:xfrm>
            <a:prstGeom prst="roundRect">
              <a:avLst>
                <a:gd fmla="val 11018" name="adj"/>
              </a:avLst>
            </a:prstGeom>
            <a:solidFill>
              <a:srgbClr val="FFFFFF"/>
            </a:solidFill>
            <a:ln cap="flat" cmpd="sng" w="9525">
              <a:solidFill>
                <a:srgbClr val="E2DDD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image.png" id="232" name="Google Shape;232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14375" y="2782192"/>
              <a:ext cx="123825" cy="1428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3" name="Google Shape;233;p18"/>
            <p:cNvSpPr txBox="1"/>
            <p:nvPr/>
          </p:nvSpPr>
          <p:spPr>
            <a:xfrm>
              <a:off x="714375" y="2765275"/>
              <a:ext cx="4108200" cy="17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200025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99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25" u="none" cap="none" strike="noStrike">
                  <a:solidFill>
                    <a:srgbClr val="132A20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Feature Input Vectors</a:t>
              </a:r>
              <a:endParaRPr/>
            </a:p>
          </p:txBody>
        </p:sp>
        <p:sp>
          <p:nvSpPr>
            <p:cNvPr id="234" name="Google Shape;234;p18"/>
            <p:cNvSpPr txBox="1"/>
            <p:nvPr/>
          </p:nvSpPr>
          <p:spPr>
            <a:xfrm>
              <a:off x="714375" y="2996505"/>
              <a:ext cx="5496000" cy="36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492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75" u="none" cap="none" strike="noStrike">
                  <a:solidFill>
                    <a:srgbClr val="526058"/>
                  </a:solidFill>
                  <a:latin typeface="Inter"/>
                  <a:ea typeface="Inter"/>
                  <a:cs typeface="Inter"/>
                  <a:sym typeface="Inter"/>
                </a:rPr>
                <a:t>Soil moisture/type, crop growth stage, temp, humidity, rain probabilit</a:t>
              </a:r>
              <a:r>
                <a:rPr lang="en-US" sz="975">
                  <a:solidFill>
                    <a:srgbClr val="526058"/>
                  </a:solidFill>
                  <a:latin typeface="Inter"/>
                  <a:ea typeface="Inter"/>
                  <a:cs typeface="Inter"/>
                  <a:sym typeface="Inter"/>
                </a:rPr>
                <a:t>y</a:t>
              </a:r>
              <a:r>
                <a:rPr b="0" i="0" lang="en-US" sz="975" u="none" cap="none" strike="noStrike">
                  <a:solidFill>
                    <a:srgbClr val="526058"/>
                  </a:solidFill>
                  <a:latin typeface="Inter"/>
                  <a:ea typeface="Inter"/>
                  <a:cs typeface="Inter"/>
                  <a:sym typeface="Inter"/>
                </a:rPr>
                <a:t> and historical irrigation logs.</a:t>
              </a:r>
              <a:endParaRPr/>
            </a:p>
          </p:txBody>
        </p:sp>
      </p:grpSp>
      <p:grpSp>
        <p:nvGrpSpPr>
          <p:cNvPr id="235" name="Google Shape;235;p18"/>
          <p:cNvGrpSpPr/>
          <p:nvPr/>
        </p:nvGrpSpPr>
        <p:grpSpPr>
          <a:xfrm>
            <a:off x="533363" y="4400275"/>
            <a:ext cx="5762700" cy="1037400"/>
            <a:chOff x="533400" y="3724275"/>
            <a:chExt cx="5762700" cy="1037400"/>
          </a:xfrm>
        </p:grpSpPr>
        <p:sp>
          <p:nvSpPr>
            <p:cNvPr id="236" name="Google Shape;236;p18"/>
            <p:cNvSpPr/>
            <p:nvPr/>
          </p:nvSpPr>
          <p:spPr>
            <a:xfrm>
              <a:off x="533400" y="3724275"/>
              <a:ext cx="5762700" cy="1037400"/>
            </a:xfrm>
            <a:prstGeom prst="roundRect">
              <a:avLst>
                <a:gd fmla="val 11018" name="adj"/>
              </a:avLst>
            </a:prstGeom>
            <a:solidFill>
              <a:srgbClr val="FFFFFF"/>
            </a:solidFill>
            <a:ln cap="flat" cmpd="sng" w="9525">
              <a:solidFill>
                <a:srgbClr val="E2DDD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image.png" id="237" name="Google Shape;237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14375" y="3933825"/>
              <a:ext cx="142875" cy="1428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8" name="Google Shape;238;p18"/>
            <p:cNvSpPr txBox="1"/>
            <p:nvPr/>
          </p:nvSpPr>
          <p:spPr>
            <a:xfrm>
              <a:off x="714380" y="3902025"/>
              <a:ext cx="3729900" cy="17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219075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99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25" u="none" cap="none" strike="noStrike">
                  <a:solidFill>
                    <a:srgbClr val="132A20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Evaluated Machine Learning Models</a:t>
              </a:r>
              <a:endParaRPr/>
            </a:p>
          </p:txBody>
        </p:sp>
        <p:sp>
          <p:nvSpPr>
            <p:cNvPr id="239" name="Google Shape;239;p18"/>
            <p:cNvSpPr txBox="1"/>
            <p:nvPr/>
          </p:nvSpPr>
          <p:spPr>
            <a:xfrm>
              <a:off x="714375" y="4148137"/>
              <a:ext cx="5496000" cy="36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492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75" u="none" cap="none" strike="noStrike">
                  <a:solidFill>
                    <a:srgbClr val="526058"/>
                  </a:solidFill>
                  <a:latin typeface="Inter"/>
                  <a:ea typeface="Inter"/>
                  <a:cs typeface="Inter"/>
                  <a:sym typeface="Inter"/>
                </a:rPr>
                <a:t>Random Forest (strong baseline</a:t>
              </a:r>
              <a:r>
                <a:rPr lang="en-US" sz="975">
                  <a:solidFill>
                    <a:srgbClr val="526058"/>
                  </a:solidFill>
                  <a:latin typeface="Inter"/>
                  <a:ea typeface="Inter"/>
                  <a:cs typeface="Inter"/>
                  <a:sym typeface="Inter"/>
                </a:rPr>
                <a:t>),Gradient Boosting</a:t>
              </a:r>
              <a:r>
                <a:rPr b="0" i="0" lang="en-US" sz="975" u="none" cap="none" strike="noStrike">
                  <a:solidFill>
                    <a:srgbClr val="526058"/>
                  </a:solidFill>
                  <a:latin typeface="Inter"/>
                  <a:ea typeface="Inter"/>
                  <a:cs typeface="Inter"/>
                  <a:sym typeface="Inter"/>
                </a:rPr>
                <a:t>, and LSTM (sequential temporal sensor modeling).</a:t>
              </a:r>
              <a:endParaRPr/>
            </a:p>
          </p:txBody>
        </p:sp>
      </p:grpSp>
      <p:pic>
        <p:nvPicPr>
          <p:cNvPr id="240" name="Google Shape;240;p18" title="Screenshot (201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42675" y="2711925"/>
            <a:ext cx="4780800" cy="2146500"/>
          </a:xfrm>
          <a:prstGeom prst="roundRect">
            <a:avLst>
              <a:gd fmla="val 11221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1EA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9"/>
          <p:cNvSpPr/>
          <p:nvPr/>
        </p:nvSpPr>
        <p:spPr>
          <a:xfrm>
            <a:off x="533400" y="4160787"/>
            <a:ext cx="5448300" cy="1189583"/>
          </a:xfrm>
          <a:prstGeom prst="roundRect">
            <a:avLst>
              <a:gd fmla="val 9608" name="adj"/>
            </a:avLst>
          </a:prstGeom>
          <a:solidFill>
            <a:srgbClr val="FFFFFF"/>
          </a:solidFill>
          <a:ln cap="flat" cmpd="sng" w="9525">
            <a:solidFill>
              <a:srgbClr val="E2DD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9"/>
          <p:cNvSpPr/>
          <p:nvPr/>
        </p:nvSpPr>
        <p:spPr>
          <a:xfrm>
            <a:off x="6210300" y="4160787"/>
            <a:ext cx="5448300" cy="1189583"/>
          </a:xfrm>
          <a:prstGeom prst="roundRect">
            <a:avLst>
              <a:gd fmla="val 9608" name="adj"/>
            </a:avLst>
          </a:prstGeom>
          <a:solidFill>
            <a:srgbClr val="FFFFFF"/>
          </a:solidFill>
          <a:ln cap="flat" cmpd="sng" w="9525">
            <a:solidFill>
              <a:srgbClr val="E2DD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47" name="Google Shape;24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1525" y="4437012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8" name="Google Shape;24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48425" y="4437012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19"/>
          <p:cNvSpPr txBox="1"/>
          <p:nvPr/>
        </p:nvSpPr>
        <p:spPr>
          <a:xfrm>
            <a:off x="533400" y="419100"/>
            <a:ext cx="116586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975">
                <a:solidFill>
                  <a:srgbClr val="C86B4B"/>
                </a:solidFill>
                <a:latin typeface="Inter"/>
                <a:ea typeface="Inter"/>
                <a:cs typeface="Inter"/>
                <a:sym typeface="Inter"/>
              </a:rPr>
              <a:t>AI POWERED SMART IRRIGATION SYSTEM FOR PREDICTIVE WATER MANAGEMENT AND CROP OPTIMIZATION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75">
              <a:solidFill>
                <a:srgbClr val="C86B4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0" name="Google Shape;250;p19"/>
          <p:cNvSpPr txBox="1"/>
          <p:nvPr/>
        </p:nvSpPr>
        <p:spPr>
          <a:xfrm>
            <a:off x="533400" y="1167625"/>
            <a:ext cx="91440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26058"/>
                </a:solidFill>
                <a:latin typeface="Inter"/>
                <a:ea typeface="Inter"/>
                <a:cs typeface="Inter"/>
                <a:sym typeface="Inter"/>
              </a:rPr>
              <a:t>Converts AI water recommendations into executed irrigation operations protected by safety interlocks and closed-loop verification.</a:t>
            </a:r>
            <a:endParaRPr/>
          </a:p>
        </p:txBody>
      </p:sp>
      <p:sp>
        <p:nvSpPr>
          <p:cNvPr id="251" name="Google Shape;251;p19"/>
          <p:cNvSpPr txBox="1"/>
          <p:nvPr/>
        </p:nvSpPr>
        <p:spPr>
          <a:xfrm>
            <a:off x="533400" y="628650"/>
            <a:ext cx="317539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132A2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06 — MODULE 03</a:t>
            </a:r>
            <a:endParaRPr/>
          </a:p>
        </p:txBody>
      </p:sp>
      <p:sp>
        <p:nvSpPr>
          <p:cNvPr id="252" name="Google Shape;252;p19"/>
          <p:cNvSpPr txBox="1"/>
          <p:nvPr/>
        </p:nvSpPr>
        <p:spPr>
          <a:xfrm>
            <a:off x="9991725" y="781050"/>
            <a:ext cx="2083593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32A20"/>
                </a:solidFill>
                <a:latin typeface="Inter"/>
                <a:ea typeface="Inter"/>
                <a:cs typeface="Inter"/>
                <a:sym typeface="Inter"/>
              </a:rPr>
              <a:t>From Prediction to Action</a:t>
            </a:r>
            <a:endParaRPr/>
          </a:p>
        </p:txBody>
      </p:sp>
      <p:sp>
        <p:nvSpPr>
          <p:cNvPr id="253" name="Google Shape;253;p19"/>
          <p:cNvSpPr/>
          <p:nvPr/>
        </p:nvSpPr>
        <p:spPr>
          <a:xfrm>
            <a:off x="533400" y="2090776"/>
            <a:ext cx="11125200" cy="1259085"/>
          </a:xfrm>
          <a:prstGeom prst="roundRect">
            <a:avLst>
              <a:gd fmla="val 9078" name="adj"/>
            </a:avLst>
          </a:prstGeom>
          <a:solidFill>
            <a:srgbClr val="FFFFFF"/>
          </a:solidFill>
          <a:ln cap="flat" cmpd="sng" w="9525">
            <a:solidFill>
              <a:srgbClr val="E2DD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9"/>
          <p:cNvSpPr/>
          <p:nvPr/>
        </p:nvSpPr>
        <p:spPr>
          <a:xfrm>
            <a:off x="1365200" y="2309851"/>
            <a:ext cx="381000" cy="381000"/>
          </a:xfrm>
          <a:prstGeom prst="roundRect">
            <a:avLst>
              <a:gd fmla="val 50000" name="adj"/>
            </a:avLst>
          </a:prstGeom>
          <a:solidFill>
            <a:srgbClr val="132A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9"/>
          <p:cNvSpPr/>
          <p:nvPr/>
        </p:nvSpPr>
        <p:spPr>
          <a:xfrm>
            <a:off x="3181350" y="2309851"/>
            <a:ext cx="381000" cy="381000"/>
          </a:xfrm>
          <a:prstGeom prst="roundRect">
            <a:avLst>
              <a:gd fmla="val 50000" name="adj"/>
            </a:avLst>
          </a:prstGeom>
          <a:solidFill>
            <a:srgbClr val="132A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9"/>
          <p:cNvSpPr/>
          <p:nvPr/>
        </p:nvSpPr>
        <p:spPr>
          <a:xfrm>
            <a:off x="4997499" y="2309851"/>
            <a:ext cx="381000" cy="381000"/>
          </a:xfrm>
          <a:prstGeom prst="roundRect">
            <a:avLst>
              <a:gd fmla="val 50000" name="adj"/>
            </a:avLst>
          </a:prstGeom>
          <a:solidFill>
            <a:srgbClr val="C86B4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9"/>
          <p:cNvSpPr/>
          <p:nvPr/>
        </p:nvSpPr>
        <p:spPr>
          <a:xfrm>
            <a:off x="6813649" y="2309851"/>
            <a:ext cx="381000" cy="381000"/>
          </a:xfrm>
          <a:prstGeom prst="roundRect">
            <a:avLst>
              <a:gd fmla="val 50000" name="adj"/>
            </a:avLst>
          </a:prstGeom>
          <a:solidFill>
            <a:srgbClr val="132A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9"/>
          <p:cNvSpPr/>
          <p:nvPr/>
        </p:nvSpPr>
        <p:spPr>
          <a:xfrm>
            <a:off x="8629798" y="2309851"/>
            <a:ext cx="381000" cy="381000"/>
          </a:xfrm>
          <a:prstGeom prst="roundRect">
            <a:avLst>
              <a:gd fmla="val 50000" name="adj"/>
            </a:avLst>
          </a:prstGeom>
          <a:solidFill>
            <a:srgbClr val="132A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9"/>
          <p:cNvSpPr/>
          <p:nvPr/>
        </p:nvSpPr>
        <p:spPr>
          <a:xfrm>
            <a:off x="10445948" y="2309851"/>
            <a:ext cx="381000" cy="381000"/>
          </a:xfrm>
          <a:prstGeom prst="roundRect">
            <a:avLst>
              <a:gd fmla="val 50000" name="adj"/>
            </a:avLst>
          </a:prstGeom>
          <a:solidFill>
            <a:srgbClr val="132A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60" name="Google Shape;260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97174" y="2644119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1" name="Google Shape;261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13324" y="2644119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2" name="Google Shape;26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29473" y="2644119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3" name="Google Shape;26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45623" y="2644119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4" name="Google Shape;26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61773" y="2644119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19"/>
          <p:cNvSpPr txBox="1"/>
          <p:nvPr/>
        </p:nvSpPr>
        <p:spPr>
          <a:xfrm>
            <a:off x="1207925" y="2413801"/>
            <a:ext cx="6669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/>
          </a:p>
        </p:txBody>
      </p:sp>
      <p:sp>
        <p:nvSpPr>
          <p:cNvPr id="266" name="Google Shape;266;p19"/>
          <p:cNvSpPr txBox="1"/>
          <p:nvPr/>
        </p:nvSpPr>
        <p:spPr>
          <a:xfrm>
            <a:off x="1188987" y="2767051"/>
            <a:ext cx="7335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32A20"/>
                </a:solidFill>
                <a:latin typeface="Inter"/>
                <a:ea typeface="Inter"/>
                <a:cs typeface="Inter"/>
                <a:sym typeface="Inter"/>
              </a:rPr>
              <a:t>SENSE</a:t>
            </a:r>
            <a:endParaRPr/>
          </a:p>
        </p:txBody>
      </p:sp>
      <p:sp>
        <p:nvSpPr>
          <p:cNvPr id="267" name="Google Shape;267;p19"/>
          <p:cNvSpPr txBox="1"/>
          <p:nvPr/>
        </p:nvSpPr>
        <p:spPr>
          <a:xfrm>
            <a:off x="869823" y="2965450"/>
            <a:ext cx="13431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526058"/>
                </a:solidFill>
                <a:latin typeface="Inter"/>
                <a:ea typeface="Inter"/>
                <a:cs typeface="Inter"/>
                <a:sym typeface="Inter"/>
              </a:rPr>
              <a:t>Read </a:t>
            </a:r>
            <a:r>
              <a:rPr lang="en-US" sz="975">
                <a:solidFill>
                  <a:srgbClr val="526058"/>
                </a:solidFill>
                <a:latin typeface="Inter"/>
                <a:ea typeface="Inter"/>
                <a:cs typeface="Inter"/>
                <a:sym typeface="Inter"/>
              </a:rPr>
              <a:t>sensor and weather information</a:t>
            </a:r>
            <a:endParaRPr/>
          </a:p>
        </p:txBody>
      </p:sp>
      <p:sp>
        <p:nvSpPr>
          <p:cNvPr id="268" name="Google Shape;268;p19"/>
          <p:cNvSpPr txBox="1"/>
          <p:nvPr/>
        </p:nvSpPr>
        <p:spPr>
          <a:xfrm>
            <a:off x="3031275" y="2413801"/>
            <a:ext cx="6669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/>
          </a:p>
        </p:txBody>
      </p:sp>
      <p:sp>
        <p:nvSpPr>
          <p:cNvPr id="269" name="Google Shape;269;p19"/>
          <p:cNvSpPr txBox="1"/>
          <p:nvPr/>
        </p:nvSpPr>
        <p:spPr>
          <a:xfrm>
            <a:off x="2943225" y="2767051"/>
            <a:ext cx="857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32A20"/>
                </a:solidFill>
                <a:latin typeface="Inter"/>
                <a:ea typeface="Inter"/>
                <a:cs typeface="Inter"/>
                <a:sym typeface="Inter"/>
              </a:rPr>
              <a:t>PREDICT</a:t>
            </a:r>
            <a:endParaRPr/>
          </a:p>
        </p:txBody>
      </p:sp>
      <p:sp>
        <p:nvSpPr>
          <p:cNvPr id="270" name="Google Shape;270;p19"/>
          <p:cNvSpPr txBox="1"/>
          <p:nvPr/>
        </p:nvSpPr>
        <p:spPr>
          <a:xfrm>
            <a:off x="2700337" y="2978387"/>
            <a:ext cx="13431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526058"/>
                </a:solidFill>
                <a:latin typeface="Inter"/>
                <a:ea typeface="Inter"/>
                <a:cs typeface="Inter"/>
                <a:sym typeface="Inter"/>
              </a:rPr>
              <a:t>AI estimates need</a:t>
            </a:r>
            <a:endParaRPr/>
          </a:p>
        </p:txBody>
      </p:sp>
      <p:sp>
        <p:nvSpPr>
          <p:cNvPr id="271" name="Google Shape;271;p19"/>
          <p:cNvSpPr txBox="1"/>
          <p:nvPr/>
        </p:nvSpPr>
        <p:spPr>
          <a:xfrm>
            <a:off x="4851024" y="2413801"/>
            <a:ext cx="6669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/>
          </a:p>
        </p:txBody>
      </p:sp>
      <p:sp>
        <p:nvSpPr>
          <p:cNvPr id="272" name="Google Shape;272;p19"/>
          <p:cNvSpPr txBox="1"/>
          <p:nvPr/>
        </p:nvSpPr>
        <p:spPr>
          <a:xfrm>
            <a:off x="4797474" y="2767051"/>
            <a:ext cx="781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32A20"/>
                </a:solidFill>
                <a:latin typeface="Inter"/>
                <a:ea typeface="Inter"/>
                <a:cs typeface="Inter"/>
                <a:sym typeface="Inter"/>
              </a:rPr>
              <a:t>DECIDE</a:t>
            </a:r>
            <a:endParaRPr/>
          </a:p>
        </p:txBody>
      </p:sp>
      <p:sp>
        <p:nvSpPr>
          <p:cNvPr id="273" name="Google Shape;273;p19"/>
          <p:cNvSpPr txBox="1"/>
          <p:nvPr/>
        </p:nvSpPr>
        <p:spPr>
          <a:xfrm>
            <a:off x="4342655" y="2978387"/>
            <a:ext cx="1690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75">
                <a:solidFill>
                  <a:srgbClr val="526058"/>
                </a:solidFill>
                <a:latin typeface="Inter"/>
                <a:ea typeface="Inter"/>
                <a:cs typeface="Inter"/>
                <a:sym typeface="Inter"/>
              </a:rPr>
              <a:t>Apply irrigation safety rules</a:t>
            </a:r>
            <a:endParaRPr sz="975">
              <a:solidFill>
                <a:srgbClr val="52605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75">
              <a:solidFill>
                <a:srgbClr val="52605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75">
              <a:solidFill>
                <a:srgbClr val="52605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4" name="Google Shape;274;p19"/>
          <p:cNvSpPr txBox="1"/>
          <p:nvPr/>
        </p:nvSpPr>
        <p:spPr>
          <a:xfrm>
            <a:off x="6668974" y="2413801"/>
            <a:ext cx="6669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/>
          </a:p>
        </p:txBody>
      </p:sp>
      <p:sp>
        <p:nvSpPr>
          <p:cNvPr id="275" name="Google Shape;275;p19"/>
          <p:cNvSpPr txBox="1"/>
          <p:nvPr/>
        </p:nvSpPr>
        <p:spPr>
          <a:xfrm>
            <a:off x="6332676" y="2753763"/>
            <a:ext cx="1343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32A20"/>
                </a:solidFill>
                <a:latin typeface="Inter"/>
                <a:ea typeface="Inter"/>
                <a:cs typeface="Inter"/>
                <a:sym typeface="Inter"/>
              </a:rPr>
              <a:t>RECOMMEND</a:t>
            </a:r>
            <a:endParaRPr/>
          </a:p>
        </p:txBody>
      </p:sp>
      <p:sp>
        <p:nvSpPr>
          <p:cNvPr id="276" name="Google Shape;276;p19"/>
          <p:cNvSpPr txBox="1"/>
          <p:nvPr/>
        </p:nvSpPr>
        <p:spPr>
          <a:xfrm>
            <a:off x="6194524" y="2978387"/>
            <a:ext cx="16191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75">
                <a:solidFill>
                  <a:srgbClr val="526058"/>
                </a:solidFill>
                <a:latin typeface="Inter"/>
                <a:ea typeface="Inter"/>
                <a:cs typeface="Inter"/>
                <a:sym typeface="Inter"/>
              </a:rPr>
              <a:t>Generate required water quantity</a:t>
            </a:r>
            <a:endParaRPr sz="975">
              <a:solidFill>
                <a:srgbClr val="52605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75">
              <a:solidFill>
                <a:srgbClr val="52605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75">
              <a:solidFill>
                <a:srgbClr val="52605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7" name="Google Shape;277;p19"/>
          <p:cNvSpPr txBox="1"/>
          <p:nvPr/>
        </p:nvSpPr>
        <p:spPr>
          <a:xfrm>
            <a:off x="8486023" y="2413789"/>
            <a:ext cx="6669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/>
          </a:p>
        </p:txBody>
      </p:sp>
      <p:sp>
        <p:nvSpPr>
          <p:cNvPr id="278" name="Google Shape;278;p19"/>
          <p:cNvSpPr txBox="1"/>
          <p:nvPr/>
        </p:nvSpPr>
        <p:spPr>
          <a:xfrm>
            <a:off x="8439298" y="2767051"/>
            <a:ext cx="762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32A20"/>
                </a:solidFill>
                <a:latin typeface="Inter"/>
                <a:ea typeface="Inter"/>
                <a:cs typeface="Inter"/>
                <a:sym typeface="Inter"/>
              </a:rPr>
              <a:t>SCHEDULE</a:t>
            </a:r>
            <a:endParaRPr/>
          </a:p>
        </p:txBody>
      </p:sp>
      <p:sp>
        <p:nvSpPr>
          <p:cNvPr id="279" name="Google Shape;279;p19"/>
          <p:cNvSpPr txBox="1"/>
          <p:nvPr/>
        </p:nvSpPr>
        <p:spPr>
          <a:xfrm>
            <a:off x="8203536" y="2934525"/>
            <a:ext cx="13146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75">
                <a:solidFill>
                  <a:srgbClr val="526058"/>
                </a:solidFill>
                <a:latin typeface="Inter"/>
                <a:ea typeface="Inter"/>
                <a:cs typeface="Inter"/>
                <a:sym typeface="Inter"/>
              </a:rPr>
              <a:t>Create field-specific irrigation schedule</a:t>
            </a:r>
            <a:endParaRPr sz="975">
              <a:solidFill>
                <a:srgbClr val="52605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75">
              <a:solidFill>
                <a:srgbClr val="52605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75">
              <a:solidFill>
                <a:srgbClr val="52605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0" name="Google Shape;280;p19"/>
          <p:cNvSpPr txBox="1"/>
          <p:nvPr/>
        </p:nvSpPr>
        <p:spPr>
          <a:xfrm>
            <a:off x="10303073" y="2413801"/>
            <a:ext cx="6669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/>
          </a:p>
        </p:txBody>
      </p:sp>
      <p:sp>
        <p:nvSpPr>
          <p:cNvPr id="281" name="Google Shape;281;p19"/>
          <p:cNvSpPr txBox="1"/>
          <p:nvPr/>
        </p:nvSpPr>
        <p:spPr>
          <a:xfrm>
            <a:off x="10269735" y="2767051"/>
            <a:ext cx="7335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32A20"/>
                </a:solidFill>
                <a:latin typeface="Inter"/>
                <a:ea typeface="Inter"/>
                <a:cs typeface="Inter"/>
                <a:sym typeface="Inter"/>
              </a:rPr>
              <a:t>MONITOR</a:t>
            </a:r>
            <a:endParaRPr/>
          </a:p>
        </p:txBody>
      </p:sp>
      <p:sp>
        <p:nvSpPr>
          <p:cNvPr id="282" name="Google Shape;282;p19"/>
          <p:cNvSpPr txBox="1"/>
          <p:nvPr/>
        </p:nvSpPr>
        <p:spPr>
          <a:xfrm>
            <a:off x="10045898" y="2978387"/>
            <a:ext cx="11811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rgbClr val="526058"/>
                </a:solidFill>
                <a:latin typeface="Inter"/>
                <a:ea typeface="Inter"/>
                <a:cs typeface="Inter"/>
                <a:sym typeface="Inter"/>
              </a:rPr>
              <a:t>Store and display irrigation history</a:t>
            </a:r>
            <a:endParaRPr/>
          </a:p>
        </p:txBody>
      </p:sp>
      <p:sp>
        <p:nvSpPr>
          <p:cNvPr id="283" name="Google Shape;283;p19"/>
          <p:cNvSpPr txBox="1"/>
          <p:nvPr/>
        </p:nvSpPr>
        <p:spPr>
          <a:xfrm>
            <a:off x="771525" y="4398912"/>
            <a:ext cx="6525815" cy="222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47650" spcFirstLastPara="1" rIns="0" wrap="square" tIns="0">
            <a:spAutoFit/>
          </a:bodyPr>
          <a:lstStyle/>
          <a:p>
            <a:pPr indent="0" lvl="0" marL="0" marR="0" rtl="0" algn="l">
              <a:lnSpc>
                <a:spcPct val="12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32A2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Closed-Loop Control Cycle</a:t>
            </a:r>
            <a:endParaRPr/>
          </a:p>
        </p:txBody>
      </p:sp>
      <p:sp>
        <p:nvSpPr>
          <p:cNvPr id="284" name="Google Shape;284;p19"/>
          <p:cNvSpPr txBox="1"/>
          <p:nvPr/>
        </p:nvSpPr>
        <p:spPr>
          <a:xfrm>
            <a:off x="771525" y="4721233"/>
            <a:ext cx="5067300" cy="4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6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526058"/>
                </a:solidFill>
                <a:latin typeface="Inter"/>
                <a:ea typeface="Inter"/>
                <a:cs typeface="Inter"/>
                <a:sym typeface="Inter"/>
              </a:rPr>
              <a:t>OBSERVE → PREDICT → ACT → MEASURE → UPDATE</a:t>
            </a:r>
            <a:endParaRPr b="1" i="0" sz="1125" u="none" cap="none" strike="noStrike">
              <a:solidFill>
                <a:srgbClr val="52605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906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25">
              <a:solidFill>
                <a:srgbClr val="52605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906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526058"/>
                </a:solidFill>
                <a:latin typeface="Inter"/>
                <a:ea typeface="Inter"/>
                <a:cs typeface="Inter"/>
                <a:sym typeface="Inter"/>
              </a:rPr>
              <a:t>Replaces fixed timers with adaptive, feedback-driven operations.</a:t>
            </a:r>
            <a:endParaRPr/>
          </a:p>
        </p:txBody>
      </p:sp>
      <p:sp>
        <p:nvSpPr>
          <p:cNvPr id="285" name="Google Shape;285;p19"/>
          <p:cNvSpPr txBox="1"/>
          <p:nvPr/>
        </p:nvSpPr>
        <p:spPr>
          <a:xfrm>
            <a:off x="6448425" y="4398912"/>
            <a:ext cx="5743575" cy="222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47650" spcFirstLastPara="1" rIns="0" wrap="square" tIns="0">
            <a:spAutoFit/>
          </a:bodyPr>
          <a:lstStyle/>
          <a:p>
            <a:pPr indent="0" lvl="0" marL="0" marR="0" rtl="0" algn="l">
              <a:lnSpc>
                <a:spcPct val="12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32A2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Multi-Layer Safety Interlocks</a:t>
            </a:r>
            <a:endParaRPr/>
          </a:p>
        </p:txBody>
      </p:sp>
      <p:sp>
        <p:nvSpPr>
          <p:cNvPr id="286" name="Google Shape;286;p19"/>
          <p:cNvSpPr txBox="1"/>
          <p:nvPr/>
        </p:nvSpPr>
        <p:spPr>
          <a:xfrm>
            <a:off x="6448425" y="4697908"/>
            <a:ext cx="5067300" cy="414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526058"/>
                </a:solidFill>
                <a:latin typeface="Inter"/>
                <a:ea typeface="Inter"/>
                <a:cs typeface="Inter"/>
                <a:sym typeface="Inter"/>
              </a:rPr>
              <a:t>Evaluates soil-moisture limits, rain lockouts, pump availability, water reserves, sensor sanity, and farmer override prior to valve activation.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1EA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0"/>
          <p:cNvSpPr/>
          <p:nvPr/>
        </p:nvSpPr>
        <p:spPr>
          <a:xfrm>
            <a:off x="533400" y="6019800"/>
            <a:ext cx="11125200" cy="419100"/>
          </a:xfrm>
          <a:prstGeom prst="roundRect">
            <a:avLst>
              <a:gd fmla="val 18181" name="adj"/>
            </a:avLst>
          </a:prstGeom>
          <a:solidFill>
            <a:srgbClr val="132A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0"/>
          <p:cNvSpPr/>
          <p:nvPr/>
        </p:nvSpPr>
        <p:spPr>
          <a:xfrm>
            <a:off x="533400" y="2504033"/>
            <a:ext cx="5448300" cy="1164877"/>
          </a:xfrm>
          <a:prstGeom prst="roundRect">
            <a:avLst>
              <a:gd fmla="val 9812" name="adj"/>
            </a:avLst>
          </a:prstGeom>
          <a:solidFill>
            <a:srgbClr val="FFFFFF"/>
          </a:solidFill>
          <a:ln cap="flat" cmpd="sng" w="9525">
            <a:solidFill>
              <a:srgbClr val="E2DD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0"/>
          <p:cNvSpPr/>
          <p:nvPr/>
        </p:nvSpPr>
        <p:spPr>
          <a:xfrm>
            <a:off x="6210300" y="2504033"/>
            <a:ext cx="5448300" cy="1164877"/>
          </a:xfrm>
          <a:prstGeom prst="roundRect">
            <a:avLst>
              <a:gd fmla="val 9812" name="adj"/>
            </a:avLst>
          </a:prstGeom>
          <a:solidFill>
            <a:srgbClr val="FFFFFF"/>
          </a:solidFill>
          <a:ln cap="flat" cmpd="sng" w="9525">
            <a:solidFill>
              <a:srgbClr val="E2DD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0"/>
          <p:cNvSpPr/>
          <p:nvPr/>
        </p:nvSpPr>
        <p:spPr>
          <a:xfrm>
            <a:off x="533400" y="3821310"/>
            <a:ext cx="5448300" cy="1164877"/>
          </a:xfrm>
          <a:prstGeom prst="roundRect">
            <a:avLst>
              <a:gd fmla="val 9812" name="adj"/>
            </a:avLst>
          </a:prstGeom>
          <a:solidFill>
            <a:srgbClr val="FFFFFF"/>
          </a:solidFill>
          <a:ln cap="flat" cmpd="sng" w="9525">
            <a:solidFill>
              <a:srgbClr val="E2DD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0"/>
          <p:cNvSpPr/>
          <p:nvPr/>
        </p:nvSpPr>
        <p:spPr>
          <a:xfrm>
            <a:off x="6210300" y="3821310"/>
            <a:ext cx="5448300" cy="1164877"/>
          </a:xfrm>
          <a:prstGeom prst="roundRect">
            <a:avLst>
              <a:gd fmla="val 9812" name="adj"/>
            </a:avLst>
          </a:prstGeom>
          <a:solidFill>
            <a:srgbClr val="FFFFFF"/>
          </a:solidFill>
          <a:ln cap="flat" cmpd="sng" w="9525">
            <a:solidFill>
              <a:srgbClr val="E2DD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0"/>
          <p:cNvSpPr txBox="1"/>
          <p:nvPr/>
        </p:nvSpPr>
        <p:spPr>
          <a:xfrm>
            <a:off x="-333375" y="6153150"/>
            <a:ext cx="128587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F4F1EA"/>
                </a:solidFill>
                <a:latin typeface="Inter"/>
                <a:ea typeface="Inter"/>
                <a:cs typeface="Inter"/>
                <a:sym typeface="Inter"/>
              </a:rPr>
              <a:t>TESTING PIPELINE: Sensor → Data Layer → AI Model → Decision Engine → Valve/Pump → Field Feedback</a:t>
            </a:r>
            <a:endParaRPr/>
          </a:p>
        </p:txBody>
      </p:sp>
      <p:sp>
        <p:nvSpPr>
          <p:cNvPr id="297" name="Google Shape;297;p20"/>
          <p:cNvSpPr txBox="1"/>
          <p:nvPr/>
        </p:nvSpPr>
        <p:spPr>
          <a:xfrm>
            <a:off x="533400" y="419100"/>
            <a:ext cx="116586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975">
                <a:solidFill>
                  <a:srgbClr val="C86B4B"/>
                </a:solidFill>
                <a:latin typeface="Inter"/>
                <a:ea typeface="Inter"/>
                <a:cs typeface="Inter"/>
                <a:sym typeface="Inter"/>
              </a:rPr>
              <a:t>AI POWERED SMART IRRIGATION SYSTEM FOR PREDICTIVE WATER MANAGEMENT AND CROP OPTIMIZATION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75">
              <a:solidFill>
                <a:srgbClr val="C86B4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8" name="Google Shape;298;p20"/>
          <p:cNvSpPr txBox="1"/>
          <p:nvPr/>
        </p:nvSpPr>
        <p:spPr>
          <a:xfrm>
            <a:off x="533400" y="1028700"/>
            <a:ext cx="9144000" cy="441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26058"/>
                </a:solidFill>
                <a:latin typeface="Inter"/>
                <a:ea typeface="Inter"/>
                <a:cs typeface="Inter"/>
                <a:sym typeface="Inter"/>
              </a:rPr>
              <a:t>Ensures continuous, fail-safe operation and reliable decision-making even during cloud disconnections or weather API outages.</a:t>
            </a:r>
            <a:endParaRPr/>
          </a:p>
        </p:txBody>
      </p:sp>
      <p:sp>
        <p:nvSpPr>
          <p:cNvPr id="299" name="Google Shape;299;p20"/>
          <p:cNvSpPr txBox="1"/>
          <p:nvPr/>
        </p:nvSpPr>
        <p:spPr>
          <a:xfrm>
            <a:off x="533400" y="628650"/>
            <a:ext cx="3187898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132A2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07 — MODULE 04</a:t>
            </a:r>
            <a:endParaRPr/>
          </a:p>
        </p:txBody>
      </p:sp>
      <p:sp>
        <p:nvSpPr>
          <p:cNvPr id="300" name="Google Shape;300;p20"/>
          <p:cNvSpPr txBox="1"/>
          <p:nvPr/>
        </p:nvSpPr>
        <p:spPr>
          <a:xfrm>
            <a:off x="10658475" y="781050"/>
            <a:ext cx="12858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32A20"/>
                </a:solidFill>
                <a:latin typeface="Inter"/>
                <a:ea typeface="Inter"/>
                <a:cs typeface="Inter"/>
                <a:sym typeface="Inter"/>
              </a:rPr>
              <a:t>Built to Hold Up</a:t>
            </a:r>
            <a:endParaRPr/>
          </a:p>
        </p:txBody>
      </p:sp>
      <p:sp>
        <p:nvSpPr>
          <p:cNvPr id="301" name="Google Shape;301;p20"/>
          <p:cNvSpPr txBox="1"/>
          <p:nvPr/>
        </p:nvSpPr>
        <p:spPr>
          <a:xfrm>
            <a:off x="771525" y="2742158"/>
            <a:ext cx="652581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32A2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01 — DATA QUALITY GUARANTEE</a:t>
            </a:r>
            <a:endParaRPr/>
          </a:p>
        </p:txBody>
      </p:sp>
      <p:sp>
        <p:nvSpPr>
          <p:cNvPr id="302" name="Google Shape;302;p20"/>
          <p:cNvSpPr txBox="1"/>
          <p:nvPr/>
        </p:nvSpPr>
        <p:spPr>
          <a:xfrm>
            <a:off x="771525" y="3016448"/>
            <a:ext cx="5067300" cy="414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526058"/>
                </a:solidFill>
                <a:latin typeface="Inter"/>
                <a:ea typeface="Inter"/>
                <a:cs typeface="Inter"/>
                <a:sym typeface="Inter"/>
              </a:rPr>
              <a:t>Sensor calibration, missing-data imputation, and anomaly filtering prevent bad measurements from influencing decisions.</a:t>
            </a:r>
            <a:endParaRPr/>
          </a:p>
        </p:txBody>
      </p:sp>
      <p:sp>
        <p:nvSpPr>
          <p:cNvPr id="303" name="Google Shape;303;p20"/>
          <p:cNvSpPr txBox="1"/>
          <p:nvPr/>
        </p:nvSpPr>
        <p:spPr>
          <a:xfrm>
            <a:off x="6448425" y="2742158"/>
            <a:ext cx="5743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32A2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02 — SAFE CONTROL INTERLOCKS</a:t>
            </a:r>
            <a:endParaRPr/>
          </a:p>
        </p:txBody>
      </p:sp>
      <p:sp>
        <p:nvSpPr>
          <p:cNvPr id="304" name="Google Shape;304;p20"/>
          <p:cNvSpPr txBox="1"/>
          <p:nvPr/>
        </p:nvSpPr>
        <p:spPr>
          <a:xfrm>
            <a:off x="6448425" y="3016448"/>
            <a:ext cx="5067300" cy="414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526058"/>
                </a:solidFill>
                <a:latin typeface="Inter"/>
                <a:ea typeface="Inter"/>
                <a:cs typeface="Inter"/>
                <a:sym typeface="Inter"/>
              </a:rPr>
              <a:t>Hard soil-moisture ceilings, immediate rainfall lockouts, and manual overrides prevent over-watering accidents.</a:t>
            </a:r>
            <a:endParaRPr/>
          </a:p>
        </p:txBody>
      </p:sp>
      <p:sp>
        <p:nvSpPr>
          <p:cNvPr id="305" name="Google Shape;305;p20"/>
          <p:cNvSpPr txBox="1"/>
          <p:nvPr/>
        </p:nvSpPr>
        <p:spPr>
          <a:xfrm>
            <a:off x="771525" y="4059435"/>
            <a:ext cx="652581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32A2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03 — FAIL-SAFE EDGE OPERATION</a:t>
            </a:r>
            <a:endParaRPr/>
          </a:p>
        </p:txBody>
      </p:sp>
      <p:sp>
        <p:nvSpPr>
          <p:cNvPr id="306" name="Google Shape;306;p20"/>
          <p:cNvSpPr txBox="1"/>
          <p:nvPr/>
        </p:nvSpPr>
        <p:spPr>
          <a:xfrm>
            <a:off x="771525" y="4333726"/>
            <a:ext cx="5067300" cy="414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526058"/>
                </a:solidFill>
                <a:latin typeface="Inter"/>
                <a:ea typeface="Inter"/>
                <a:cs typeface="Inter"/>
                <a:sym typeface="Inter"/>
              </a:rPr>
              <a:t>If cloud API connectivity is lost, local edge controllers fall back to conservative threshold-based safety rules.</a:t>
            </a:r>
            <a:endParaRPr/>
          </a:p>
        </p:txBody>
      </p:sp>
      <p:sp>
        <p:nvSpPr>
          <p:cNvPr id="307" name="Google Shape;307;p20"/>
          <p:cNvSpPr txBox="1"/>
          <p:nvPr/>
        </p:nvSpPr>
        <p:spPr>
          <a:xfrm>
            <a:off x="6448425" y="4059435"/>
            <a:ext cx="5743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32A2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04 — END-TO-END SYSTEM LOGGING</a:t>
            </a:r>
            <a:endParaRPr/>
          </a:p>
        </p:txBody>
      </p:sp>
      <p:sp>
        <p:nvSpPr>
          <p:cNvPr id="308" name="Google Shape;308;p20"/>
          <p:cNvSpPr txBox="1"/>
          <p:nvPr/>
        </p:nvSpPr>
        <p:spPr>
          <a:xfrm>
            <a:off x="6448425" y="4333726"/>
            <a:ext cx="5067300" cy="414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526058"/>
                </a:solidFill>
                <a:latin typeface="Inter"/>
                <a:ea typeface="Inter"/>
                <a:cs typeface="Inter"/>
                <a:sym typeface="Inter"/>
              </a:rPr>
              <a:t>Records telemetry, model predictions, executed valve commands, water flow response, and error events.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1EA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1"/>
          <p:cNvSpPr/>
          <p:nvPr/>
        </p:nvSpPr>
        <p:spPr>
          <a:xfrm>
            <a:off x="533400" y="6029325"/>
            <a:ext cx="11125200" cy="409575"/>
          </a:xfrm>
          <a:prstGeom prst="roundRect">
            <a:avLst>
              <a:gd fmla="val 18604" name="adj"/>
            </a:avLst>
          </a:prstGeom>
          <a:solidFill>
            <a:srgbClr val="132A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1"/>
          <p:cNvSpPr/>
          <p:nvPr/>
        </p:nvSpPr>
        <p:spPr>
          <a:xfrm>
            <a:off x="533400" y="2798712"/>
            <a:ext cx="2652712" cy="1681460"/>
          </a:xfrm>
          <a:prstGeom prst="roundRect">
            <a:avLst>
              <a:gd fmla="val 6797" name="adj"/>
            </a:avLst>
          </a:prstGeom>
          <a:solidFill>
            <a:srgbClr val="FFFFFF"/>
          </a:solidFill>
          <a:ln cap="flat" cmpd="sng" w="9525">
            <a:solidFill>
              <a:srgbClr val="E2DD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1"/>
          <p:cNvSpPr/>
          <p:nvPr/>
        </p:nvSpPr>
        <p:spPr>
          <a:xfrm>
            <a:off x="3357562" y="2798712"/>
            <a:ext cx="2652712" cy="1681460"/>
          </a:xfrm>
          <a:prstGeom prst="roundRect">
            <a:avLst>
              <a:gd fmla="val 6797" name="adj"/>
            </a:avLst>
          </a:prstGeom>
          <a:solidFill>
            <a:srgbClr val="FFFFFF"/>
          </a:solidFill>
          <a:ln cap="flat" cmpd="sng" w="9525">
            <a:solidFill>
              <a:srgbClr val="E2DD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1"/>
          <p:cNvSpPr/>
          <p:nvPr/>
        </p:nvSpPr>
        <p:spPr>
          <a:xfrm>
            <a:off x="6181725" y="2798712"/>
            <a:ext cx="2652712" cy="1681460"/>
          </a:xfrm>
          <a:prstGeom prst="roundRect">
            <a:avLst>
              <a:gd fmla="val 6797" name="adj"/>
            </a:avLst>
          </a:prstGeom>
          <a:solidFill>
            <a:srgbClr val="FFFFFF"/>
          </a:solidFill>
          <a:ln cap="flat" cmpd="sng" w="9525">
            <a:solidFill>
              <a:srgbClr val="E2DD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1"/>
          <p:cNvSpPr/>
          <p:nvPr/>
        </p:nvSpPr>
        <p:spPr>
          <a:xfrm>
            <a:off x="9005887" y="2798712"/>
            <a:ext cx="2652712" cy="1681460"/>
          </a:xfrm>
          <a:prstGeom prst="roundRect">
            <a:avLst>
              <a:gd fmla="val 6797" name="adj"/>
            </a:avLst>
          </a:prstGeom>
          <a:solidFill>
            <a:srgbClr val="FFFFFF"/>
          </a:solidFill>
          <a:ln cap="flat" cmpd="sng" w="9525">
            <a:solidFill>
              <a:srgbClr val="E2DD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18" name="Google Shape;31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900" y="6181725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21"/>
          <p:cNvSpPr txBox="1"/>
          <p:nvPr/>
        </p:nvSpPr>
        <p:spPr>
          <a:xfrm>
            <a:off x="7591425" y="6162675"/>
            <a:ext cx="3971925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A3B8AD"/>
                </a:solidFill>
                <a:latin typeface="Inter"/>
                <a:ea typeface="Inter"/>
                <a:cs typeface="Inter"/>
                <a:sym typeface="Inter"/>
              </a:rPr>
              <a:t>Important Note:</a:t>
            </a:r>
            <a:r>
              <a:rPr b="0" i="0" lang="en-US" sz="900" u="none" cap="none" strike="noStrike">
                <a:solidFill>
                  <a:srgbClr val="A3B8AD"/>
                </a:solidFill>
                <a:latin typeface="Inter"/>
                <a:ea typeface="Inter"/>
                <a:cs typeface="Inter"/>
                <a:sym typeface="Inter"/>
              </a:rPr>
              <a:t> Results depend on crop type, soil texture, local climate, irrigation methods, sensor precision, and calibration.</a:t>
            </a:r>
            <a:endParaRPr/>
          </a:p>
        </p:txBody>
      </p:sp>
      <p:sp>
        <p:nvSpPr>
          <p:cNvPr id="320" name="Google Shape;320;p21"/>
          <p:cNvSpPr txBox="1"/>
          <p:nvPr/>
        </p:nvSpPr>
        <p:spPr>
          <a:xfrm>
            <a:off x="533400" y="419100"/>
            <a:ext cx="116586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975">
                <a:solidFill>
                  <a:srgbClr val="C86B4B"/>
                </a:solidFill>
                <a:latin typeface="Inter"/>
                <a:ea typeface="Inter"/>
                <a:cs typeface="Inter"/>
                <a:sym typeface="Inter"/>
              </a:rPr>
              <a:t>AI POWERED SMART IRRIGATION SYSTEM FOR PREDICTIVE WATER MANAGEMENT AND CROP OPTIMIZATION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75">
              <a:solidFill>
                <a:srgbClr val="C86B4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1" name="Google Shape;321;p21"/>
          <p:cNvSpPr txBox="1"/>
          <p:nvPr/>
        </p:nvSpPr>
        <p:spPr>
          <a:xfrm>
            <a:off x="533400" y="1028700"/>
            <a:ext cx="11310937" cy="220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26058"/>
                </a:solidFill>
                <a:latin typeface="Inter"/>
                <a:ea typeface="Inter"/>
                <a:cs typeface="Inter"/>
                <a:sym typeface="Inter"/>
              </a:rPr>
              <a:t>Delivering higher water productivity and energy savings through research-backed machine learning optimization.</a:t>
            </a:r>
            <a:endParaRPr/>
          </a:p>
        </p:txBody>
      </p:sp>
      <p:sp>
        <p:nvSpPr>
          <p:cNvPr id="322" name="Google Shape;322;p21"/>
          <p:cNvSpPr txBox="1"/>
          <p:nvPr/>
        </p:nvSpPr>
        <p:spPr>
          <a:xfrm>
            <a:off x="533400" y="628650"/>
            <a:ext cx="66008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132A2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08 — IMPACT &amp; RESEARCH METRICS</a:t>
            </a:r>
            <a:endParaRPr/>
          </a:p>
        </p:txBody>
      </p:sp>
      <p:sp>
        <p:nvSpPr>
          <p:cNvPr id="323" name="Google Shape;323;p21"/>
          <p:cNvSpPr txBox="1"/>
          <p:nvPr/>
        </p:nvSpPr>
        <p:spPr>
          <a:xfrm>
            <a:off x="9953625" y="781050"/>
            <a:ext cx="2131218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32A20"/>
                </a:solidFill>
                <a:latin typeface="Inter"/>
                <a:ea typeface="Inter"/>
                <a:cs typeface="Inter"/>
                <a:sym typeface="Inter"/>
              </a:rPr>
              <a:t>Validated Efficiency Gains</a:t>
            </a:r>
            <a:endParaRPr/>
          </a:p>
        </p:txBody>
      </p:sp>
      <p:sp>
        <p:nvSpPr>
          <p:cNvPr id="324" name="Google Shape;324;p21"/>
          <p:cNvSpPr txBox="1"/>
          <p:nvPr/>
        </p:nvSpPr>
        <p:spPr>
          <a:xfrm>
            <a:off x="499467" y="3036837"/>
            <a:ext cx="2720578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32A20"/>
                </a:solidFill>
                <a:latin typeface="Inter"/>
                <a:ea typeface="Inter"/>
                <a:cs typeface="Inter"/>
                <a:sym typeface="Inter"/>
              </a:rPr>
              <a:t>27.6%</a:t>
            </a:r>
            <a:endParaRPr/>
          </a:p>
        </p:txBody>
      </p:sp>
      <p:sp>
        <p:nvSpPr>
          <p:cNvPr id="325" name="Google Shape;325;p21"/>
          <p:cNvSpPr txBox="1"/>
          <p:nvPr/>
        </p:nvSpPr>
        <p:spPr>
          <a:xfrm>
            <a:off x="499467" y="3494037"/>
            <a:ext cx="2720578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C86B4B"/>
                </a:solidFill>
                <a:latin typeface="Inter"/>
                <a:ea typeface="Inter"/>
                <a:cs typeface="Inter"/>
                <a:sym typeface="Inter"/>
              </a:rPr>
              <a:t>WATER SAVINGS</a:t>
            </a:r>
            <a:endParaRPr/>
          </a:p>
        </p:txBody>
      </p:sp>
      <p:sp>
        <p:nvSpPr>
          <p:cNvPr id="326" name="Google Shape;326;p21"/>
          <p:cNvSpPr txBox="1"/>
          <p:nvPr/>
        </p:nvSpPr>
        <p:spPr>
          <a:xfrm>
            <a:off x="499467" y="3703587"/>
            <a:ext cx="2720578" cy="538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49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526058"/>
                </a:solidFill>
                <a:latin typeface="Inter"/>
                <a:ea typeface="Inter"/>
                <a:cs typeface="Inter"/>
                <a:sym typeface="Inter"/>
              </a:rPr>
              <a:t>Demonstrated in 2023 CNN irrigation study vs. conventional sprinklers.</a:t>
            </a:r>
            <a:endParaRPr/>
          </a:p>
        </p:txBody>
      </p:sp>
      <p:sp>
        <p:nvSpPr>
          <p:cNvPr id="327" name="Google Shape;327;p21"/>
          <p:cNvSpPr txBox="1"/>
          <p:nvPr/>
        </p:nvSpPr>
        <p:spPr>
          <a:xfrm>
            <a:off x="3323629" y="3036837"/>
            <a:ext cx="2720578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C86B4B"/>
                </a:solidFill>
                <a:latin typeface="Inter"/>
                <a:ea typeface="Inter"/>
                <a:cs typeface="Inter"/>
                <a:sym typeface="Inter"/>
              </a:rPr>
              <a:t>27.4%</a:t>
            </a:r>
            <a:endParaRPr/>
          </a:p>
        </p:txBody>
      </p:sp>
      <p:sp>
        <p:nvSpPr>
          <p:cNvPr id="328" name="Google Shape;328;p21"/>
          <p:cNvSpPr txBox="1"/>
          <p:nvPr/>
        </p:nvSpPr>
        <p:spPr>
          <a:xfrm>
            <a:off x="3323629" y="3494037"/>
            <a:ext cx="2720578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C86B4B"/>
                </a:solidFill>
                <a:latin typeface="Inter"/>
                <a:ea typeface="Inter"/>
                <a:cs typeface="Inter"/>
                <a:sym typeface="Inter"/>
              </a:rPr>
              <a:t>ENERGY REDUCTION</a:t>
            </a:r>
            <a:endParaRPr/>
          </a:p>
        </p:txBody>
      </p:sp>
      <p:sp>
        <p:nvSpPr>
          <p:cNvPr id="329" name="Google Shape;329;p21"/>
          <p:cNvSpPr txBox="1"/>
          <p:nvPr/>
        </p:nvSpPr>
        <p:spPr>
          <a:xfrm>
            <a:off x="3323629" y="3703587"/>
            <a:ext cx="2720578" cy="3589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49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526058"/>
                </a:solidFill>
                <a:latin typeface="Inter"/>
                <a:ea typeface="Inter"/>
                <a:cs typeface="Inter"/>
                <a:sym typeface="Inter"/>
              </a:rPr>
              <a:t>Lower pumping runtime through optimized watering schedules.</a:t>
            </a:r>
            <a:endParaRPr/>
          </a:p>
        </p:txBody>
      </p:sp>
      <p:sp>
        <p:nvSpPr>
          <p:cNvPr id="330" name="Google Shape;330;p21"/>
          <p:cNvSpPr txBox="1"/>
          <p:nvPr/>
        </p:nvSpPr>
        <p:spPr>
          <a:xfrm>
            <a:off x="6147792" y="3036837"/>
            <a:ext cx="2720578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32A20"/>
                </a:solidFill>
                <a:latin typeface="Inter"/>
                <a:ea typeface="Inter"/>
                <a:cs typeface="Inter"/>
                <a:sym typeface="Inter"/>
              </a:rPr>
              <a:t>+32.8%</a:t>
            </a:r>
            <a:endParaRPr/>
          </a:p>
        </p:txBody>
      </p:sp>
      <p:sp>
        <p:nvSpPr>
          <p:cNvPr id="331" name="Google Shape;331;p21"/>
          <p:cNvSpPr txBox="1"/>
          <p:nvPr/>
        </p:nvSpPr>
        <p:spPr>
          <a:xfrm>
            <a:off x="6147792" y="3494037"/>
            <a:ext cx="2720578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C86B4B"/>
                </a:solidFill>
                <a:latin typeface="Inter"/>
                <a:ea typeface="Inter"/>
                <a:cs typeface="Inter"/>
                <a:sym typeface="Inter"/>
              </a:rPr>
              <a:t>WATER PRODUCTIVITY</a:t>
            </a:r>
            <a:endParaRPr/>
          </a:p>
        </p:txBody>
      </p:sp>
      <p:sp>
        <p:nvSpPr>
          <p:cNvPr id="332" name="Google Shape;332;p21"/>
          <p:cNvSpPr txBox="1"/>
          <p:nvPr/>
        </p:nvSpPr>
        <p:spPr>
          <a:xfrm>
            <a:off x="6147792" y="3703587"/>
            <a:ext cx="2720578" cy="3589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49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526058"/>
                </a:solidFill>
                <a:latin typeface="Inter"/>
                <a:ea typeface="Inter"/>
                <a:cs typeface="Inter"/>
                <a:sym typeface="Inter"/>
              </a:rPr>
              <a:t>Increased crop yield per unit of freshwater applied.</a:t>
            </a:r>
            <a:endParaRPr/>
          </a:p>
        </p:txBody>
      </p:sp>
      <p:sp>
        <p:nvSpPr>
          <p:cNvPr id="333" name="Google Shape;333;p21"/>
          <p:cNvSpPr txBox="1"/>
          <p:nvPr/>
        </p:nvSpPr>
        <p:spPr>
          <a:xfrm>
            <a:off x="8971954" y="3036837"/>
            <a:ext cx="2720578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C86B4B"/>
                </a:solidFill>
                <a:latin typeface="Inter"/>
                <a:ea typeface="Inter"/>
                <a:cs typeface="Inter"/>
                <a:sym typeface="Inter"/>
              </a:rPr>
              <a:t>30%</a:t>
            </a:r>
            <a:endParaRPr/>
          </a:p>
        </p:txBody>
      </p:sp>
      <p:sp>
        <p:nvSpPr>
          <p:cNvPr id="334" name="Google Shape;334;p21"/>
          <p:cNvSpPr txBox="1"/>
          <p:nvPr/>
        </p:nvSpPr>
        <p:spPr>
          <a:xfrm>
            <a:off x="8971954" y="3494037"/>
            <a:ext cx="2720578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C86B4B"/>
                </a:solidFill>
                <a:latin typeface="Inter"/>
                <a:ea typeface="Inter"/>
                <a:cs typeface="Inter"/>
                <a:sym typeface="Inter"/>
              </a:rPr>
              <a:t>MAIZE WATER SAVINGS</a:t>
            </a:r>
            <a:endParaRPr/>
          </a:p>
        </p:txBody>
      </p:sp>
      <p:sp>
        <p:nvSpPr>
          <p:cNvPr id="335" name="Google Shape;335;p21"/>
          <p:cNvSpPr txBox="1"/>
          <p:nvPr/>
        </p:nvSpPr>
        <p:spPr>
          <a:xfrm>
            <a:off x="8971954" y="3703587"/>
            <a:ext cx="2720578" cy="3589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49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526058"/>
                </a:solidFill>
                <a:latin typeface="Inter"/>
                <a:ea typeface="Inter"/>
                <a:cs typeface="Inter"/>
                <a:sym typeface="Inter"/>
              </a:rPr>
              <a:t>2026 ML study (27% for wheat, -20% energy, -25% runoff).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1EA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2"/>
          <p:cNvSpPr/>
          <p:nvPr/>
        </p:nvSpPr>
        <p:spPr>
          <a:xfrm>
            <a:off x="533400" y="2556569"/>
            <a:ext cx="5448300" cy="2727721"/>
          </a:xfrm>
          <a:prstGeom prst="roundRect">
            <a:avLst>
              <a:gd fmla="val 4190" name="adj"/>
            </a:avLst>
          </a:prstGeom>
          <a:solidFill>
            <a:srgbClr val="FFFFFF"/>
          </a:solidFill>
          <a:ln cap="flat" cmpd="sng" w="9525">
            <a:solidFill>
              <a:srgbClr val="E2DD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2"/>
          <p:cNvSpPr/>
          <p:nvPr/>
        </p:nvSpPr>
        <p:spPr>
          <a:xfrm>
            <a:off x="6210300" y="2556569"/>
            <a:ext cx="5448300" cy="2727721"/>
          </a:xfrm>
          <a:prstGeom prst="roundRect">
            <a:avLst>
              <a:gd fmla="val 4190" name="adj"/>
            </a:avLst>
          </a:prstGeom>
          <a:solidFill>
            <a:srgbClr val="FFFFFF"/>
          </a:solidFill>
          <a:ln cap="flat" cmpd="sng" w="9525">
            <a:solidFill>
              <a:srgbClr val="E2DD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2"/>
          <p:cNvSpPr/>
          <p:nvPr/>
        </p:nvSpPr>
        <p:spPr>
          <a:xfrm>
            <a:off x="771525" y="2794694"/>
            <a:ext cx="304800" cy="304800"/>
          </a:xfrm>
          <a:prstGeom prst="roundRect">
            <a:avLst>
              <a:gd fmla="val 50000" name="adj"/>
            </a:avLst>
          </a:prstGeom>
          <a:solidFill>
            <a:srgbClr val="C86B4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2"/>
          <p:cNvSpPr/>
          <p:nvPr/>
        </p:nvSpPr>
        <p:spPr>
          <a:xfrm>
            <a:off x="6448425" y="2794694"/>
            <a:ext cx="304800" cy="304800"/>
          </a:xfrm>
          <a:prstGeom prst="roundRect">
            <a:avLst>
              <a:gd fmla="val 50000" name="adj"/>
            </a:avLst>
          </a:prstGeom>
          <a:solidFill>
            <a:srgbClr val="132A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2"/>
          <p:cNvSpPr txBox="1"/>
          <p:nvPr/>
        </p:nvSpPr>
        <p:spPr>
          <a:xfrm>
            <a:off x="533400" y="419100"/>
            <a:ext cx="116586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975">
                <a:solidFill>
                  <a:srgbClr val="C86B4B"/>
                </a:solidFill>
                <a:latin typeface="Inter"/>
                <a:ea typeface="Inter"/>
                <a:cs typeface="Inter"/>
                <a:sym typeface="Inter"/>
              </a:rPr>
              <a:t>AI POWERED SMART IRRIGATION SYSTEM FOR PREDICTIVE WATER MANAGEMENT AND CROP OPTIMIZATION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75">
              <a:solidFill>
                <a:srgbClr val="C86B4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5" name="Google Shape;345;p22"/>
          <p:cNvSpPr txBox="1"/>
          <p:nvPr/>
        </p:nvSpPr>
        <p:spPr>
          <a:xfrm>
            <a:off x="533400" y="628650"/>
            <a:ext cx="11658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132A2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09 — WHAT'S NEXT</a:t>
            </a:r>
            <a:endParaRPr/>
          </a:p>
        </p:txBody>
      </p:sp>
      <p:sp>
        <p:nvSpPr>
          <p:cNvPr id="346" name="Google Shape;346;p22"/>
          <p:cNvSpPr txBox="1"/>
          <p:nvPr/>
        </p:nvSpPr>
        <p:spPr>
          <a:xfrm>
            <a:off x="533400" y="1028700"/>
            <a:ext cx="11310937" cy="220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26058"/>
                </a:solidFill>
                <a:latin typeface="Inter"/>
                <a:ea typeface="Inter"/>
                <a:cs typeface="Inter"/>
                <a:sym typeface="Inter"/>
              </a:rPr>
              <a:t>Strategic technological roadmap for expanding platform capabilities and scale.</a:t>
            </a:r>
            <a:endParaRPr/>
          </a:p>
        </p:txBody>
      </p:sp>
      <p:sp>
        <p:nvSpPr>
          <p:cNvPr id="347" name="Google Shape;347;p22"/>
          <p:cNvSpPr txBox="1"/>
          <p:nvPr/>
        </p:nvSpPr>
        <p:spPr>
          <a:xfrm>
            <a:off x="628650" y="2794694"/>
            <a:ext cx="5905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/>
          </a:p>
        </p:txBody>
      </p:sp>
      <p:sp>
        <p:nvSpPr>
          <p:cNvPr id="348" name="Google Shape;348;p22"/>
          <p:cNvSpPr txBox="1"/>
          <p:nvPr/>
        </p:nvSpPr>
        <p:spPr>
          <a:xfrm>
            <a:off x="1171575" y="2837557"/>
            <a:ext cx="2575321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32A2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NEAR-TERM ROADMAP</a:t>
            </a:r>
            <a:endParaRPr/>
          </a:p>
        </p:txBody>
      </p:sp>
      <p:sp>
        <p:nvSpPr>
          <p:cNvPr id="349" name="Google Shape;349;p22"/>
          <p:cNvSpPr txBox="1"/>
          <p:nvPr/>
        </p:nvSpPr>
        <p:spPr>
          <a:xfrm>
            <a:off x="885825" y="3231892"/>
            <a:ext cx="7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2605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50" name="Google Shape;350;p22"/>
          <p:cNvSpPr txBox="1"/>
          <p:nvPr/>
        </p:nvSpPr>
        <p:spPr>
          <a:xfrm>
            <a:off x="962025" y="3232844"/>
            <a:ext cx="4876800" cy="453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526058"/>
                </a:solidFill>
                <a:latin typeface="Inter"/>
                <a:ea typeface="Inter"/>
                <a:cs typeface="Inter"/>
                <a:sym typeface="Inter"/>
              </a:rPr>
              <a:t>Edge AI Deployment:</a:t>
            </a:r>
            <a:r>
              <a:rPr b="0" i="0" lang="en-US" sz="1050" u="none" cap="none" strike="noStrike">
                <a:solidFill>
                  <a:srgbClr val="526058"/>
                </a:solidFill>
                <a:latin typeface="Inter"/>
                <a:ea typeface="Inter"/>
                <a:cs typeface="Inter"/>
                <a:sym typeface="Inter"/>
              </a:rPr>
              <a:t> Run inference locally for ultra-low latency without internet dependency.</a:t>
            </a:r>
            <a:endParaRPr/>
          </a:p>
        </p:txBody>
      </p:sp>
      <p:sp>
        <p:nvSpPr>
          <p:cNvPr id="351" name="Google Shape;351;p22"/>
          <p:cNvSpPr txBox="1"/>
          <p:nvPr/>
        </p:nvSpPr>
        <p:spPr>
          <a:xfrm>
            <a:off x="885825" y="3685222"/>
            <a:ext cx="7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2605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52" name="Google Shape;352;p22"/>
          <p:cNvSpPr txBox="1"/>
          <p:nvPr/>
        </p:nvSpPr>
        <p:spPr>
          <a:xfrm>
            <a:off x="962025" y="3686175"/>
            <a:ext cx="4876800" cy="453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526058"/>
                </a:solidFill>
                <a:latin typeface="Inter"/>
                <a:ea typeface="Inter"/>
                <a:cs typeface="Inter"/>
                <a:sym typeface="Inter"/>
              </a:rPr>
              <a:t>Crop-Stress Vision:</a:t>
            </a:r>
            <a:r>
              <a:rPr b="0" i="0" lang="en-US" sz="1050" u="none" cap="none" strike="noStrike">
                <a:solidFill>
                  <a:srgbClr val="526058"/>
                </a:solidFill>
                <a:latin typeface="Inter"/>
                <a:ea typeface="Inter"/>
                <a:cs typeface="Inter"/>
                <a:sym typeface="Inter"/>
              </a:rPr>
              <a:t> Computer vision via drones/cameras to detect early leaf wilting.</a:t>
            </a:r>
            <a:endParaRPr/>
          </a:p>
        </p:txBody>
      </p:sp>
      <p:sp>
        <p:nvSpPr>
          <p:cNvPr id="353" name="Google Shape;353;p22"/>
          <p:cNvSpPr txBox="1"/>
          <p:nvPr/>
        </p:nvSpPr>
        <p:spPr>
          <a:xfrm>
            <a:off x="885825" y="4138552"/>
            <a:ext cx="7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2605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54" name="Google Shape;354;p22"/>
          <p:cNvSpPr txBox="1"/>
          <p:nvPr/>
        </p:nvSpPr>
        <p:spPr>
          <a:xfrm>
            <a:off x="962025" y="4139505"/>
            <a:ext cx="5976937" cy="226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526058"/>
                </a:solidFill>
                <a:latin typeface="Inter"/>
                <a:ea typeface="Inter"/>
                <a:cs typeface="Inter"/>
                <a:sym typeface="Inter"/>
              </a:rPr>
              <a:t>Solar Sensor Mesh:</a:t>
            </a:r>
            <a:r>
              <a:rPr b="0" i="0" lang="en-US" sz="1050" u="none" cap="none" strike="noStrike">
                <a:solidFill>
                  <a:srgbClr val="526058"/>
                </a:solidFill>
                <a:latin typeface="Inter"/>
                <a:ea typeface="Inter"/>
                <a:cs typeface="Inter"/>
                <a:sym typeface="Inter"/>
              </a:rPr>
              <a:t> Low-power wireless node networks for off-grid fields.</a:t>
            </a:r>
            <a:endParaRPr/>
          </a:p>
        </p:txBody>
      </p:sp>
      <p:sp>
        <p:nvSpPr>
          <p:cNvPr id="355" name="Google Shape;355;p22"/>
          <p:cNvSpPr txBox="1"/>
          <p:nvPr/>
        </p:nvSpPr>
        <p:spPr>
          <a:xfrm>
            <a:off x="885825" y="4365218"/>
            <a:ext cx="7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2605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56" name="Google Shape;356;p22"/>
          <p:cNvSpPr txBox="1"/>
          <p:nvPr/>
        </p:nvSpPr>
        <p:spPr>
          <a:xfrm>
            <a:off x="962025" y="4366170"/>
            <a:ext cx="5976937" cy="226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526058"/>
                </a:solidFill>
                <a:latin typeface="Inter"/>
                <a:ea typeface="Inter"/>
                <a:cs typeface="Inter"/>
                <a:sym typeface="Inter"/>
              </a:rPr>
              <a:t>Automated Fertigation:</a:t>
            </a:r>
            <a:r>
              <a:rPr b="0" i="0" lang="en-US" sz="1050" u="none" cap="none" strike="noStrike">
                <a:solidFill>
                  <a:srgbClr val="526058"/>
                </a:solidFill>
                <a:latin typeface="Inter"/>
                <a:ea typeface="Inter"/>
                <a:cs typeface="Inter"/>
                <a:sym typeface="Inter"/>
              </a:rPr>
              <a:t> Dynamic fertilizer injection matching water dosing.</a:t>
            </a:r>
            <a:endParaRPr/>
          </a:p>
        </p:txBody>
      </p:sp>
      <p:sp>
        <p:nvSpPr>
          <p:cNvPr id="357" name="Google Shape;357;p22"/>
          <p:cNvSpPr txBox="1"/>
          <p:nvPr/>
        </p:nvSpPr>
        <p:spPr>
          <a:xfrm>
            <a:off x="6305550" y="2794694"/>
            <a:ext cx="5905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/>
          </a:p>
        </p:txBody>
      </p:sp>
      <p:sp>
        <p:nvSpPr>
          <p:cNvPr id="358" name="Google Shape;358;p22"/>
          <p:cNvSpPr txBox="1"/>
          <p:nvPr/>
        </p:nvSpPr>
        <p:spPr>
          <a:xfrm>
            <a:off x="6848475" y="2837557"/>
            <a:ext cx="2637829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32A2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LONG-TERM ROADMAP</a:t>
            </a:r>
            <a:endParaRPr/>
          </a:p>
        </p:txBody>
      </p:sp>
      <p:sp>
        <p:nvSpPr>
          <p:cNvPr id="359" name="Google Shape;359;p22"/>
          <p:cNvSpPr txBox="1"/>
          <p:nvPr/>
        </p:nvSpPr>
        <p:spPr>
          <a:xfrm>
            <a:off x="6562725" y="3231892"/>
            <a:ext cx="7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2605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60" name="Google Shape;360;p22"/>
          <p:cNvSpPr txBox="1"/>
          <p:nvPr/>
        </p:nvSpPr>
        <p:spPr>
          <a:xfrm>
            <a:off x="6638925" y="3232844"/>
            <a:ext cx="4876800" cy="453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526058"/>
                </a:solidFill>
                <a:latin typeface="Inter"/>
                <a:ea typeface="Inter"/>
                <a:cs typeface="Inter"/>
                <a:sym typeface="Inter"/>
              </a:rPr>
              <a:t>Satellite &amp; UAV Integration:</a:t>
            </a:r>
            <a:r>
              <a:rPr b="0" i="0" lang="en-US" sz="1050" u="none" cap="none" strike="noStrike">
                <a:solidFill>
                  <a:srgbClr val="526058"/>
                </a:solidFill>
                <a:latin typeface="Inter"/>
                <a:ea typeface="Inter"/>
                <a:cs typeface="Inter"/>
                <a:sym typeface="Inter"/>
              </a:rPr>
              <a:t> Remote sensing ET data for macro field demand.</a:t>
            </a:r>
            <a:endParaRPr/>
          </a:p>
        </p:txBody>
      </p:sp>
      <p:sp>
        <p:nvSpPr>
          <p:cNvPr id="361" name="Google Shape;361;p22"/>
          <p:cNvSpPr txBox="1"/>
          <p:nvPr/>
        </p:nvSpPr>
        <p:spPr>
          <a:xfrm>
            <a:off x="6562725" y="3685222"/>
            <a:ext cx="7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2605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62" name="Google Shape;362;p22"/>
          <p:cNvSpPr txBox="1"/>
          <p:nvPr/>
        </p:nvSpPr>
        <p:spPr>
          <a:xfrm>
            <a:off x="6638925" y="3686175"/>
            <a:ext cx="4876800" cy="453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526058"/>
                </a:solidFill>
                <a:latin typeface="Inter"/>
                <a:ea typeface="Inter"/>
                <a:cs typeface="Inter"/>
                <a:sym typeface="Inter"/>
              </a:rPr>
              <a:t>Farm Digital Twin:</a:t>
            </a:r>
            <a:r>
              <a:rPr b="0" i="0" lang="en-US" sz="1050" u="none" cap="none" strike="noStrike">
                <a:solidFill>
                  <a:srgbClr val="526058"/>
                </a:solidFill>
                <a:latin typeface="Inter"/>
                <a:ea typeface="Inter"/>
                <a:cs typeface="Inter"/>
                <a:sym typeface="Inter"/>
              </a:rPr>
              <a:t> Real-time simulation of soil, crop, weather, and water dynamics.</a:t>
            </a:r>
            <a:endParaRPr/>
          </a:p>
        </p:txBody>
      </p:sp>
      <p:sp>
        <p:nvSpPr>
          <p:cNvPr id="363" name="Google Shape;363;p22"/>
          <p:cNvSpPr txBox="1"/>
          <p:nvPr/>
        </p:nvSpPr>
        <p:spPr>
          <a:xfrm>
            <a:off x="6562725" y="4138552"/>
            <a:ext cx="7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2605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64" name="Google Shape;364;p22"/>
          <p:cNvSpPr txBox="1"/>
          <p:nvPr/>
        </p:nvSpPr>
        <p:spPr>
          <a:xfrm>
            <a:off x="6638925" y="4139505"/>
            <a:ext cx="4876800" cy="453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526058"/>
                </a:solidFill>
                <a:latin typeface="Inter"/>
                <a:ea typeface="Inter"/>
                <a:cs typeface="Inter"/>
                <a:sym typeface="Inter"/>
              </a:rPr>
              <a:t>Multi-Season Analytics:</a:t>
            </a:r>
            <a:r>
              <a:rPr b="0" i="0" lang="en-US" sz="1050" u="none" cap="none" strike="noStrike">
                <a:solidFill>
                  <a:srgbClr val="526058"/>
                </a:solidFill>
                <a:latin typeface="Inter"/>
                <a:ea typeface="Inter"/>
                <a:cs typeface="Inter"/>
                <a:sym typeface="Inter"/>
              </a:rPr>
              <a:t> Predict seasonal water budgets and long-term yield.</a:t>
            </a:r>
            <a:endParaRPr/>
          </a:p>
        </p:txBody>
      </p:sp>
      <p:sp>
        <p:nvSpPr>
          <p:cNvPr id="365" name="Google Shape;365;p22"/>
          <p:cNvSpPr txBox="1"/>
          <p:nvPr/>
        </p:nvSpPr>
        <p:spPr>
          <a:xfrm>
            <a:off x="6562725" y="4591883"/>
            <a:ext cx="7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2605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66" name="Google Shape;366;p22"/>
          <p:cNvSpPr txBox="1"/>
          <p:nvPr/>
        </p:nvSpPr>
        <p:spPr>
          <a:xfrm>
            <a:off x="6638925" y="4592835"/>
            <a:ext cx="4876800" cy="453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526058"/>
                </a:solidFill>
                <a:latin typeface="Inter"/>
                <a:ea typeface="Inter"/>
                <a:cs typeface="Inter"/>
                <a:sym typeface="Inter"/>
              </a:rPr>
              <a:t>Regional Water Intelligence:</a:t>
            </a:r>
            <a:r>
              <a:rPr b="0" i="0" lang="en-US" sz="1050" u="none" cap="none" strike="noStrike">
                <a:solidFill>
                  <a:srgbClr val="526058"/>
                </a:solidFill>
                <a:latin typeface="Inter"/>
                <a:ea typeface="Inter"/>
                <a:cs typeface="Inter"/>
                <a:sym typeface="Inter"/>
              </a:rPr>
              <a:t> Scale from individual farms to canal basin networks.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1EA"/>
        </a:solidFill>
      </p:bgPr>
    </p:bg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3"/>
          <p:cNvSpPr/>
          <p:nvPr/>
        </p:nvSpPr>
        <p:spPr>
          <a:xfrm>
            <a:off x="533400" y="5972175"/>
            <a:ext cx="11125200" cy="466725"/>
          </a:xfrm>
          <a:prstGeom prst="roundRect">
            <a:avLst>
              <a:gd fmla="val 16326" name="adj"/>
            </a:avLst>
          </a:prstGeom>
          <a:solidFill>
            <a:srgbClr val="132A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3"/>
          <p:cNvSpPr/>
          <p:nvPr/>
        </p:nvSpPr>
        <p:spPr>
          <a:xfrm>
            <a:off x="533400" y="2924770"/>
            <a:ext cx="3581400" cy="1372046"/>
          </a:xfrm>
          <a:prstGeom prst="roundRect">
            <a:avLst>
              <a:gd fmla="val 8330" name="adj"/>
            </a:avLst>
          </a:prstGeom>
          <a:solidFill>
            <a:srgbClr val="FFFFFF"/>
          </a:solidFill>
          <a:ln cap="flat" cmpd="sng" w="9525">
            <a:solidFill>
              <a:srgbClr val="E2DD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3"/>
          <p:cNvSpPr/>
          <p:nvPr/>
        </p:nvSpPr>
        <p:spPr>
          <a:xfrm>
            <a:off x="4305300" y="2924770"/>
            <a:ext cx="3581400" cy="1372046"/>
          </a:xfrm>
          <a:prstGeom prst="roundRect">
            <a:avLst>
              <a:gd fmla="val 8330" name="adj"/>
            </a:avLst>
          </a:prstGeom>
          <a:solidFill>
            <a:srgbClr val="FFFFFF"/>
          </a:solidFill>
          <a:ln cap="flat" cmpd="sng" w="9525">
            <a:solidFill>
              <a:srgbClr val="E2DD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3"/>
          <p:cNvSpPr/>
          <p:nvPr/>
        </p:nvSpPr>
        <p:spPr>
          <a:xfrm>
            <a:off x="8077200" y="2924770"/>
            <a:ext cx="3581400" cy="1372046"/>
          </a:xfrm>
          <a:prstGeom prst="roundRect">
            <a:avLst>
              <a:gd fmla="val 8330" name="adj"/>
            </a:avLst>
          </a:prstGeom>
          <a:solidFill>
            <a:srgbClr val="FFFFFF"/>
          </a:solidFill>
          <a:ln cap="flat" cmpd="sng" w="9525">
            <a:solidFill>
              <a:srgbClr val="E2DD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3"/>
          <p:cNvSpPr txBox="1"/>
          <p:nvPr/>
        </p:nvSpPr>
        <p:spPr>
          <a:xfrm>
            <a:off x="533400" y="419100"/>
            <a:ext cx="116586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975">
                <a:solidFill>
                  <a:srgbClr val="C86B4B"/>
                </a:solidFill>
                <a:latin typeface="Inter"/>
                <a:ea typeface="Inter"/>
                <a:cs typeface="Inter"/>
                <a:sym typeface="Inter"/>
              </a:rPr>
              <a:t>AI POWERED SMART IRRIGATION SYSTEM FOR PREDICTIVE WATER MANAGEMENT AND CROP OPTIMIZATION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75">
              <a:solidFill>
                <a:srgbClr val="C86B4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6" name="Google Shape;376;p23"/>
          <p:cNvSpPr txBox="1"/>
          <p:nvPr/>
        </p:nvSpPr>
        <p:spPr>
          <a:xfrm>
            <a:off x="533400" y="628650"/>
            <a:ext cx="11658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132A2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10 — CONCLUSION</a:t>
            </a:r>
            <a:endParaRPr/>
          </a:p>
        </p:txBody>
      </p:sp>
      <p:sp>
        <p:nvSpPr>
          <p:cNvPr id="377" name="Google Shape;377;p23"/>
          <p:cNvSpPr txBox="1"/>
          <p:nvPr/>
        </p:nvSpPr>
        <p:spPr>
          <a:xfrm>
            <a:off x="533400" y="1028700"/>
            <a:ext cx="11310937" cy="220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26058"/>
                </a:solidFill>
                <a:latin typeface="Inter"/>
                <a:ea typeface="Inter"/>
                <a:cs typeface="Inter"/>
                <a:sym typeface="Inter"/>
              </a:rPr>
              <a:t>The Future of Predictive Farming</a:t>
            </a:r>
            <a:endParaRPr/>
          </a:p>
        </p:txBody>
      </p:sp>
      <p:sp>
        <p:nvSpPr>
          <p:cNvPr id="378" name="Google Shape;378;p23"/>
          <p:cNvSpPr txBox="1"/>
          <p:nvPr/>
        </p:nvSpPr>
        <p:spPr>
          <a:xfrm>
            <a:off x="2909887" y="6105525"/>
            <a:ext cx="836354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D98E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BOTTOM LINE: Sense the field. Predict the need. Deliver only what the crop requires.</a:t>
            </a:r>
            <a:endParaRPr/>
          </a:p>
        </p:txBody>
      </p:sp>
      <p:sp>
        <p:nvSpPr>
          <p:cNvPr id="379" name="Google Shape;379;p23"/>
          <p:cNvSpPr txBox="1"/>
          <p:nvPr/>
        </p:nvSpPr>
        <p:spPr>
          <a:xfrm>
            <a:off x="771525" y="3162895"/>
            <a:ext cx="4075509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86B4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01 — VISION &amp; STRATEGY</a:t>
            </a:r>
            <a:endParaRPr/>
          </a:p>
        </p:txBody>
      </p:sp>
      <p:sp>
        <p:nvSpPr>
          <p:cNvPr id="380" name="Google Shape;380;p23"/>
          <p:cNvSpPr txBox="1"/>
          <p:nvPr/>
        </p:nvSpPr>
        <p:spPr>
          <a:xfrm>
            <a:off x="771525" y="3437185"/>
            <a:ext cx="3200400" cy="6215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526058"/>
                </a:solidFill>
                <a:latin typeface="Inter"/>
                <a:ea typeface="Inter"/>
                <a:cs typeface="Inter"/>
                <a:sym typeface="Inter"/>
              </a:rPr>
              <a:t>Transforms farming from fixed timetables into a predictive, feedback-driven process responding dynamically to actual crop needs.</a:t>
            </a:r>
            <a:endParaRPr/>
          </a:p>
        </p:txBody>
      </p:sp>
      <p:sp>
        <p:nvSpPr>
          <p:cNvPr id="381" name="Google Shape;381;p23"/>
          <p:cNvSpPr txBox="1"/>
          <p:nvPr/>
        </p:nvSpPr>
        <p:spPr>
          <a:xfrm>
            <a:off x="4543425" y="3162895"/>
            <a:ext cx="4075509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32A2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02 — OPERATIONAL EFFICIENCY</a:t>
            </a:r>
            <a:endParaRPr/>
          </a:p>
        </p:txBody>
      </p:sp>
      <p:sp>
        <p:nvSpPr>
          <p:cNvPr id="382" name="Google Shape;382;p23"/>
          <p:cNvSpPr txBox="1"/>
          <p:nvPr/>
        </p:nvSpPr>
        <p:spPr>
          <a:xfrm>
            <a:off x="4543425" y="3437185"/>
            <a:ext cx="3200400" cy="6215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526058"/>
                </a:solidFill>
                <a:latin typeface="Inter"/>
                <a:ea typeface="Inter"/>
                <a:cs typeface="Inter"/>
                <a:sym typeface="Inter"/>
              </a:rPr>
              <a:t>Minimizes unnecessary water application, pump runtime, energy costs, and runoff while maintaining optimal soil moisture.</a:t>
            </a:r>
            <a:endParaRPr/>
          </a:p>
        </p:txBody>
      </p:sp>
      <p:sp>
        <p:nvSpPr>
          <p:cNvPr id="383" name="Google Shape;383;p23"/>
          <p:cNvSpPr txBox="1"/>
          <p:nvPr/>
        </p:nvSpPr>
        <p:spPr>
          <a:xfrm>
            <a:off x="8315325" y="3162895"/>
            <a:ext cx="38766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86B4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03 — EVIDENCE-LED SCALING</a:t>
            </a:r>
            <a:endParaRPr/>
          </a:p>
        </p:txBody>
      </p:sp>
      <p:sp>
        <p:nvSpPr>
          <p:cNvPr id="384" name="Google Shape;384;p23"/>
          <p:cNvSpPr txBox="1"/>
          <p:nvPr/>
        </p:nvSpPr>
        <p:spPr>
          <a:xfrm>
            <a:off x="8315325" y="3437185"/>
            <a:ext cx="3200400" cy="6215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526058"/>
                </a:solidFill>
                <a:latin typeface="Inter"/>
                <a:ea typeface="Inter"/>
                <a:cs typeface="Inter"/>
                <a:sym typeface="Inter"/>
              </a:rPr>
              <a:t>Demonstrates proven research results when models are calibrated locally according to crop, soil, climate, and irrigation methods.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2A20"/>
        </a:solidFill>
      </p:bgPr>
    </p:bg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24"/>
          <p:cNvSpPr/>
          <p:nvPr/>
        </p:nvSpPr>
        <p:spPr>
          <a:xfrm>
            <a:off x="5810250" y="4200525"/>
            <a:ext cx="571500" cy="28575"/>
          </a:xfrm>
          <a:prstGeom prst="rect">
            <a:avLst/>
          </a:prstGeom>
          <a:solidFill>
            <a:srgbClr val="D98E7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4"/>
          <p:cNvSpPr txBox="1"/>
          <p:nvPr/>
        </p:nvSpPr>
        <p:spPr>
          <a:xfrm>
            <a:off x="3190875" y="2209800"/>
            <a:ext cx="58102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D98E72"/>
                </a:solidFill>
                <a:latin typeface="Inter"/>
                <a:ea typeface="Inter"/>
                <a:cs typeface="Inter"/>
                <a:sym typeface="Inter"/>
              </a:rPr>
              <a:t>INFOSYS SPRINGBOARD VIRTUAL INTERNSHIP 7.0 · BATCH 3</a:t>
            </a:r>
            <a:endParaRPr/>
          </a:p>
        </p:txBody>
      </p:sp>
      <p:sp>
        <p:nvSpPr>
          <p:cNvPr id="391" name="Google Shape;391;p24"/>
          <p:cNvSpPr txBox="1"/>
          <p:nvPr/>
        </p:nvSpPr>
        <p:spPr>
          <a:xfrm>
            <a:off x="3808214" y="2486025"/>
            <a:ext cx="4575571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THANK YOU</a:t>
            </a:r>
            <a:endParaRPr/>
          </a:p>
        </p:txBody>
      </p:sp>
      <p:sp>
        <p:nvSpPr>
          <p:cNvPr id="392" name="Google Shape;392;p24"/>
          <p:cNvSpPr txBox="1"/>
          <p:nvPr/>
        </p:nvSpPr>
        <p:spPr>
          <a:xfrm>
            <a:off x="1333500" y="3400425"/>
            <a:ext cx="9525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3B8AD"/>
                </a:solidFill>
                <a:latin typeface="Inter"/>
                <a:ea typeface="Inter"/>
                <a:cs typeface="Inter"/>
                <a:sym typeface="Inter"/>
              </a:rPr>
              <a:t>AI Powered Smart Irrigation System for Predictive Water Management and Crop Optimization</a:t>
            </a:r>
            <a:endParaRPr/>
          </a:p>
        </p:txBody>
      </p:sp>
      <p:sp>
        <p:nvSpPr>
          <p:cNvPr id="393" name="Google Shape;393;p24"/>
          <p:cNvSpPr txBox="1"/>
          <p:nvPr/>
        </p:nvSpPr>
        <p:spPr>
          <a:xfrm>
            <a:off x="3178968" y="4495800"/>
            <a:ext cx="58341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D98E72"/>
                </a:solidFill>
                <a:latin typeface="Inter"/>
                <a:ea typeface="Inter"/>
                <a:cs typeface="Inter"/>
                <a:sym typeface="Inter"/>
              </a:rPr>
              <a:t>SMART AGRICULTURE · AI · PRECISION WATER MANAGEMENT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